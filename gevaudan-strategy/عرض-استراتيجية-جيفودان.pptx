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5ff80e1a-d126-6692-7cef-1299baf2fdfa}">
          <p14:sldIdLst>
            <p14:sldId id="256"/>
            <p14:sldId id="257"/>
          </p14:sldIdLst>
        </p14:section>
        <p14:section name="أين نقف" id="{1dc7d2e1-39ec-ad05-3331-7c85e237b43d}">
          <p14:sldIdLst>
            <p14:sldId id="258"/>
          </p14:sldIdLst>
        </p14:section>
        <p14:section name="التشخيص" id="{e01c2406-f393-f654-8ef3-f8bbdb7e60a6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الاختيارات" id="{9facd8cd-0ddc-e17d-1537-1d1b2a2eda11}">
          <p14:sldIdLst>
            <p14:sldId id="265"/>
          </p14:sldIdLst>
        </p14:section>
        <p14:section name="التموضع" id="{7492ca10-1a26-dde3-ada5-d3ac39f2ceed}">
          <p14:sldIdLst>
            <p14:sldId id="266"/>
            <p14:sldId id="267"/>
          </p14:sldIdLst>
        </p14:section>
        <p14:section name="الفكرة الكبرى" id="{beafe85e-ae71-7fa7-fddd-28f05e5108f3}">
          <p14:sldIdLst>
            <p14:sldId id="268"/>
            <p14:sldId id="269"/>
          </p14:sldIdLst>
        </p14:section>
        <p14:section name="الرسائل" id="{f6b077b6-38ae-dc5d-f4a0-2fa5ac95d183}">
          <p14:sldIdLst>
            <p14:sldId id="270"/>
            <p14:sldId id="271"/>
          </p14:sldIdLst>
        </p14:section>
        <p14:section name="الصوت" id="{e2250d06-cc6e-4576-623b-7b85dfb0be2e}">
          <p14:sldIdLst>
            <p14:sldId id="272"/>
          </p14:sldIdLst>
        </p14:section>
        <p14:section name="القنوات" id="{1ba67953-ca4b-3a21-7cd5-34ed31566634}">
          <p14:sldIdLst>
            <p14:sldId id="273"/>
          </p14:sldIdLst>
        </p14:section>
        <p14:section name="القواعد" id="{70f5e287-4319-c925-8380-faf8e01c8830}">
          <p14:sldIdLst>
            <p14:sldId id="274"/>
            <p14:sldId id="275"/>
          </p14:sldIdLst>
        </p14:section>
        <p14:section name="القياس" id="{50b3ad87-9046-6218-ce86-326ac77db4b0}">
          <p14:sldIdLst>
            <p14:sldId id="276"/>
            <p14:sldId id="277"/>
          </p14:sldIdLst>
        </p14:section>
        <p14:section name="خارطة المراحل" id="{25866fea-81a7-9ae6-344e-3e982957a3af}">
          <p14:sldIdLst>
            <p14:sldId id="278"/>
          </p14:sldIdLst>
        </p14:section>
        <p14:section name="المخاطر" id="{f3286949-02e7-2739-623b-7b73dfe6124b}">
          <p14:sldIdLst>
            <p14:sldId id="279"/>
          </p14:sldIdLst>
        </p14:section>
        <p14:section name="الخطوات التالية" id="{b00cb1e7-fabd-f067-702b-cba0b9e3e761}">
          <p14:sldIdLst>
            <p14:sldId id="280"/>
          </p14:sldIdLst>
        </p14:section>
        <p14:section name="الختام" id="{84f9db97-596d-0441-e797-95c3e012c897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افتتاح: هذه استراتيجية وليست خطة محتوى. السؤال الذي نجيب عنه: كيف نجعل كل تاجر عطور في العراق يعرف من هي جيفودان؟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الرسالة الأساسية أولاً، ثم التفاصيل. إذا تذكّر الحاضرون جملة واحدة فلتكن هذه.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نقطة الصفر ميزة: لا صورة سابقة نصححها. لكن غياب الريلز يعني غيابنا عن مصدر الوصول.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المعادلة التي تحكم قرار التاجر. لدينا طريقان لتغيير النتيجة؛ نختار الثاني لأن خفض السعر لا يليق برأس الهرم.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هنا الفهم الأعمق: القيمة مؤجلة والسعر حاضر. هذا التوتر هو ما نعالجه.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فرضية تحتاج تحققاً عبر عشر مقابلات مع تجار حاليين. لا تُنشر في المرحلة الأولى؛ هي ذخيرة المرحلة الثانية.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هو التشخيص الذي تُبنى عليه كل القرارات اللاحقة. توقف هنا قليلاً.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إطار نضج السوق من مدرسة الكتابة الإعلانية المباشرة: في سوق سمع كل الادعاءات لا ينفع ادعاء أكبر، بل هوية جديدة.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التاجر يعرف الفئة ولا يعرف الاسم. أي رسالة تبدأ بالعرض أو المقارنة تقفز درجتين وتسقط.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الاستراتيجية قرار بما لا نفعله بقدر ما هي قرار بما نفعله.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جيفودان رأس الهرم. أي خلط على صفحتها ينزلها درجة.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بيان التموضع داخلي ولا يُنشر كما هو. في المرحلة الأولى نعلن كل ما فيه عدا الحصرية.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الفكرة الواحدة: جيفودان هي المصدر. تحقق ثلاثة أشياء في آن واحد، وتعيش في المراحل الثلاث.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الشعار الموصى به يقول «المصدر» دون ادعاء ودون اسم ماركة، فهو آمن قانونياً.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السقف هو ما يخرج به التاجر، والأعمدة أدلة تصديقه، والأساس نور النبراس.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رقم يُراجَع مع جيفودان قبل النشر ويُحدَّث سنوياً.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اللغة قرار استراتيجي: فصحى مبسّطة للمكتوب، وعراقية بيضاء للصوت، ونطق موحّد للاسم.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الجمهور يُعدّ بالآلاف، وأغلبه لن يتابع صفحة شركة توريد. لذلك كل قطعة تُصنع لتُرسل.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القواعد تحمي التموضع. أي منشور يخالف واحدة منها لا يُنشر.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نؤيد تجاهل المنافس. لكن التجاهل على الصفحة لا يكفي؛ يجب أن نعرف ماذا نفعل حين يذكره الجمهور.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أضفنا طبقة رابعة تقيس الهدف نفسه: هل يعرف التاجر جيفودان؟ سؤال شهري بسيط يطرحه المندوبون.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ننتقل بالشروط لا بالتاريخ. الأرقام النهائية تُعتمد بعد خط الأساس.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المرحلة الثالثة مقترح إضافي: برنامج «تاجر جيفودان المعتمد» يحوّل الجودة من كلفة يدفعها التاجر إلى ميزة يربح منها.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خطر له معالجة محددة ومسؤول.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نختم بما نحتاجه من نور النبراس حتى تبدأ الاستراتيجية فعلياً.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ختام: العودة إلى الشعار. شكراً، وأسئلة.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105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العراق  ·  الاستراتيجية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06040" y="3108960"/>
            <a:ext cx="640080" cy="640080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0" y="2697480"/>
            <a:ext cx="1463040" cy="1463040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2240280"/>
            <a:ext cx="2377440" cy="2377440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737360"/>
            <a:ext cx="3383280" cy="3383280"/>
          </a:xfrm>
          <a:prstGeom prst="ellipse">
            <a:avLst/>
          </a:prstGeom>
          <a:ln w="15875">
            <a:solidFill>
              <a:srgbClr val="C9A55C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88720"/>
            <a:ext cx="4480560" cy="4480560"/>
          </a:xfrm>
          <a:prstGeom prst="ellipse">
            <a:avLst/>
          </a:prstGeom>
          <a:ln w="15875">
            <a:solidFill>
              <a:srgbClr val="C9A55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594360"/>
            <a:ext cx="5669280" cy="5669280"/>
          </a:xfrm>
          <a:prstGeom prst="ellipse">
            <a:avLst/>
          </a:prstGeom>
          <a:ln w="15875">
            <a:solidFill>
              <a:srgbClr val="C9A55C">
                <a:alpha val="1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417320"/>
            <a:ext cx="597103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GIVAUDAN  ·  IRAQ</a:t>
            </a:r>
            <a:endParaRPr lang="ar-IQ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783080"/>
            <a:ext cx="5971032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6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</a:t>
            </a:r>
            <a:endParaRPr lang="ar-IQ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017520"/>
            <a:ext cx="59710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2800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هنا تبدأ الريحة</a:t>
            </a:r>
            <a:endParaRPr lang="ar-IQ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3977640"/>
            <a:ext cx="5971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8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استراتيجية الصفحة  |  المرحلة الأولى: التعريف</a:t>
            </a:r>
            <a:endParaRPr lang="ar-IQ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4434840"/>
            <a:ext cx="59710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مُعدّة لنور النبراس، الوكيل الحصري لجيفودان في العراق  ·  أكتوبر 2026</a:t>
            </a:r>
            <a:endParaRPr lang="ar-IQ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الاستراتيجية في جملة واحدة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 نبيع زيتاً. سنعرّف السوق بالمصدر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8168335" y="182880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42655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4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ar-IQ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442655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2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ar-IQ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442655" y="3383280"/>
            <a:ext cx="29260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6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لا يعرف من هي جيفودان، فيقيّمها كأي زيت، ويحسم القرار بالسعر.</a:t>
            </a:r>
            <a:endParaRPr lang="ar-IQ" sz="1600" dirty="0"/>
          </a:p>
        </p:txBody>
      </p:sp>
      <p:sp>
        <p:nvSpPr>
          <p:cNvPr id="12" name="Shape 9"/>
          <p:cNvSpPr/>
          <p:nvPr/>
        </p:nvSpPr>
        <p:spPr>
          <a:xfrm>
            <a:off x="4364431" y="182880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38751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4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ar-IQ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4638751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2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</a:t>
            </a:r>
            <a:endParaRPr lang="ar-IQ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638751" y="3383280"/>
            <a:ext cx="29260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6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أولى للتعريف فقط: يرتبط الاسم في ذهن التاجر بفكرة واحدة هي «المصدر».</a:t>
            </a:r>
            <a:endParaRPr lang="ar-IQ" sz="1600" dirty="0"/>
          </a:p>
        </p:txBody>
      </p:sp>
      <p:sp>
        <p:nvSpPr>
          <p:cNvPr id="16" name="Shape 13"/>
          <p:cNvSpPr/>
          <p:nvPr/>
        </p:nvSpPr>
        <p:spPr>
          <a:xfrm>
            <a:off x="560527" y="182880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4847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4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ar-IQ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2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المقياس</a:t>
            </a:r>
            <a:endParaRPr lang="ar-IQ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34847" y="3383280"/>
            <a:ext cx="29260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6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تاجر يذكر جيفودان بالاسم. هذه هي العلامة الحقيقية للنجاح، لا عدد المتابعين.</a:t>
            </a:r>
            <a:endParaRPr lang="ar-IQ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نقف اليوم  ·  حتى 14 أكتوبر 2026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الصفحة عند نقطة الصفر، وهذه فرصة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9037015" y="17373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37015" y="1874520"/>
            <a:ext cx="26060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6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ar-IQ" sz="6600" dirty="0"/>
          </a:p>
        </p:txBody>
      </p:sp>
      <p:sp>
        <p:nvSpPr>
          <p:cNvPr id="10" name="Text 7"/>
          <p:cNvSpPr txBox="1"/>
          <p:nvPr/>
        </p:nvSpPr>
        <p:spPr>
          <a:xfrm>
            <a:off x="9219895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متابعاً</a:t>
            </a:r>
            <a:endParaRPr lang="ar-IQ" sz="1500" dirty="0"/>
          </a:p>
        </p:txBody>
      </p:sp>
      <p:sp>
        <p:nvSpPr>
          <p:cNvPr id="11" name="Shape 8"/>
          <p:cNvSpPr/>
          <p:nvPr/>
        </p:nvSpPr>
        <p:spPr>
          <a:xfrm>
            <a:off x="6211519" y="17373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1519" y="1874520"/>
            <a:ext cx="26060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6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IQ" sz="6600" dirty="0"/>
          </a:p>
        </p:txBody>
      </p:sp>
      <p:sp>
        <p:nvSpPr>
          <p:cNvPr id="13" name="Text 10"/>
          <p:cNvSpPr txBox="1"/>
          <p:nvPr/>
        </p:nvSpPr>
        <p:spPr>
          <a:xfrm>
            <a:off x="6394399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منشورات</a:t>
            </a:r>
            <a:endParaRPr lang="ar-IQ" sz="1500" dirty="0"/>
          </a:p>
        </p:txBody>
      </p:sp>
      <p:sp>
        <p:nvSpPr>
          <p:cNvPr id="14" name="Shape 11"/>
          <p:cNvSpPr/>
          <p:nvPr/>
        </p:nvSpPr>
        <p:spPr>
          <a:xfrm>
            <a:off x="3386023" y="17373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86023" y="1874520"/>
            <a:ext cx="26060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6600" b="1" dirty="0">
                <a:solidFill>
                  <a:srgbClr val="C9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ar-IQ" sz="6600" dirty="0"/>
          </a:p>
        </p:txBody>
      </p:sp>
      <p:sp>
        <p:nvSpPr>
          <p:cNvPr id="16" name="Text 13"/>
          <p:cNvSpPr txBox="1"/>
          <p:nvPr/>
        </p:nvSpPr>
        <p:spPr>
          <a:xfrm>
            <a:off x="3568903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ريلز</a:t>
            </a:r>
            <a:endParaRPr lang="ar-IQ" sz="1500" dirty="0"/>
          </a:p>
        </p:txBody>
      </p:sp>
      <p:sp>
        <p:nvSpPr>
          <p:cNvPr id="17" name="Shape 14"/>
          <p:cNvSpPr/>
          <p:nvPr/>
        </p:nvSpPr>
        <p:spPr>
          <a:xfrm>
            <a:off x="560527" y="17373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0527" y="1874520"/>
            <a:ext cx="26060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6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IQ" sz="6600" dirty="0"/>
          </a:p>
        </p:txBody>
      </p:sp>
      <p:sp>
        <p:nvSpPr>
          <p:cNvPr id="19" name="Text 16"/>
          <p:cNvSpPr txBox="1"/>
          <p:nvPr/>
        </p:nvSpPr>
        <p:spPr>
          <a:xfrm>
            <a:off x="743407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منصات: إنستغرام، فيسبوك، تيك توك</a:t>
            </a:r>
            <a:endParaRPr lang="ar-IQ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480560"/>
            <a:ext cx="11094415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IQ" altLang="en-US" sz="17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القراءة: لا توجد صورة سابقة نحتاج تصحيحها، فنبني الصفحة صحيحة من أول يوم. لكن صفر ريلز يعني أننا غائبون عن الصيغة التي تجلب الوصول على المنصات الثلاث.</a:t>
            </a:r>
            <a:endParaRPr lang="ar-IQ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يميل التاجر إلى البديل الأرخص؟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المعادلة في رأس التاجر</a:t>
            </a:r>
            <a:endParaRPr lang="ar-IQ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899855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 السعر</a:t>
            </a:r>
            <a:endParaRPr lang="ar-IQ" sz="1600" dirty="0"/>
          </a:p>
        </p:txBody>
      </p:sp>
      <p:sp>
        <p:nvSpPr>
          <p:cNvPr id="9" name="Shape 6"/>
          <p:cNvSpPr/>
          <p:nvPr/>
        </p:nvSpPr>
        <p:spPr>
          <a:xfrm>
            <a:off x="3230575" y="21488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C9A5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071055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 الجودة كما يراه التاجر</a:t>
            </a:r>
            <a:endParaRPr lang="ar-IQ" sz="1600" dirty="0"/>
          </a:p>
        </p:txBody>
      </p:sp>
      <p:sp>
        <p:nvSpPr>
          <p:cNvPr id="11" name="Shape 8"/>
          <p:cNvSpPr/>
          <p:nvPr/>
        </p:nvSpPr>
        <p:spPr>
          <a:xfrm>
            <a:off x="8351215" y="342900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F2E4A"/>
          </a:solidFill>
          <a:ln w="12700">
            <a:solidFill>
              <a:srgbClr val="C9A55C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114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C9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يختار الأرخص</a:t>
            </a:r>
            <a:endParaRPr lang="ar-IQ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52628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663440"/>
            <a:ext cx="1054577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ar-IQ" altLang="en-US" sz="17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طريقان لتغيير النتيجة: </a:t>
            </a:r>
            <a:pPr algn="r" indent="0" marL="0">
              <a:lnSpc>
                <a:spcPct val="130000"/>
              </a:lnSpc>
              <a:buNone/>
            </a:pPr>
            <a:r>
              <a:rPr lang="ar-IQ" altLang="en-US" sz="17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خفض السعر، وهذا ليس خيارنا ولا يليق برأس الهرم. أو تكبير الجودة في عين التاجر، وعليه تُبنى الاستراتيجية كلها. ونبدأ بالاسم لأن الجودة التي لا يُعرف مصدرها لا تُرى.</a:t>
            </a:r>
            <a:endParaRPr lang="ar-IQ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التاجر  ·  Customer Insight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لا يشتري زيتاً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9037015" y="1691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82835" y="1920240"/>
            <a:ext cx="914400" cy="914400"/>
          </a:xfrm>
          <a:prstGeom prst="ellipse">
            <a:avLst/>
          </a:prstGeom>
          <a:solidFill>
            <a:srgbClr val="1F2E4A"/>
          </a:solidFill>
          <a:ln w="12700">
            <a:solidFill>
              <a:srgbClr val="C9A5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435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037015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زبون يرجع</a:t>
            </a:r>
            <a:endParaRPr lang="ar-IQ" sz="2000" dirty="0"/>
          </a:p>
        </p:txBody>
      </p:sp>
      <p:sp>
        <p:nvSpPr>
          <p:cNvPr id="12" name="Shape 8"/>
          <p:cNvSpPr/>
          <p:nvPr/>
        </p:nvSpPr>
        <p:spPr>
          <a:xfrm>
            <a:off x="6211519" y="1691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057339" y="1920240"/>
            <a:ext cx="914400" cy="914400"/>
          </a:xfrm>
          <a:prstGeom prst="ellipse">
            <a:avLst/>
          </a:prstGeom>
          <a:solidFill>
            <a:srgbClr val="1F2E4A"/>
          </a:solidFill>
          <a:ln w="12700">
            <a:solidFill>
              <a:srgbClr val="C9A55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939" y="21488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11519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سمعة محل</a:t>
            </a:r>
            <a:endParaRPr lang="ar-IQ" sz="2000" dirty="0"/>
          </a:p>
        </p:txBody>
      </p:sp>
      <p:sp>
        <p:nvSpPr>
          <p:cNvPr id="16" name="Shape 11"/>
          <p:cNvSpPr/>
          <p:nvPr/>
        </p:nvSpPr>
        <p:spPr>
          <a:xfrm>
            <a:off x="3386023" y="1691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231843" y="1920240"/>
            <a:ext cx="914400" cy="914400"/>
          </a:xfrm>
          <a:prstGeom prst="ellipse">
            <a:avLst/>
          </a:prstGeom>
          <a:solidFill>
            <a:srgbClr val="1F2E4A"/>
          </a:solidFill>
          <a:ln w="12700">
            <a:solidFill>
              <a:srgbClr val="C9A55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443" y="21488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386023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هامش ربح</a:t>
            </a:r>
            <a:endParaRPr lang="ar-IQ" sz="2000" dirty="0"/>
          </a:p>
        </p:txBody>
      </p:sp>
      <p:sp>
        <p:nvSpPr>
          <p:cNvPr id="20" name="Shape 14"/>
          <p:cNvSpPr/>
          <p:nvPr/>
        </p:nvSpPr>
        <p:spPr>
          <a:xfrm>
            <a:off x="560527" y="1691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406347" y="1920240"/>
            <a:ext cx="914400" cy="914400"/>
          </a:xfrm>
          <a:prstGeom prst="ellipse">
            <a:avLst/>
          </a:prstGeom>
          <a:solidFill>
            <a:srgbClr val="1F2E4A"/>
          </a:solidFill>
          <a:ln w="12700">
            <a:solidFill>
              <a:srgbClr val="C9A55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947" y="21488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60527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شكاوى أقل</a:t>
            </a:r>
            <a:endParaRPr lang="ar-IQ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4069080"/>
            <a:ext cx="11094415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IQ" altLang="en-US" sz="18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يشتري هذه الأشياء الأربعة. والمشكلة أن السعر يراه اليوم، ورجوع الزبون لا يراه إلا بعد أسابيع.</a:t>
            </a:r>
            <a:endParaRPr lang="ar-IQ" sz="1800" dirty="0"/>
          </a:p>
        </p:txBody>
      </p:sp>
      <p:sp>
        <p:nvSpPr>
          <p:cNvPr id="25" name="Shape 18"/>
          <p:cNvSpPr/>
          <p:nvPr/>
        </p:nvSpPr>
        <p:spPr>
          <a:xfrm>
            <a:off x="548640" y="49377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22960" y="4983480"/>
            <a:ext cx="10545775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دامت قيمة جيفودان مؤجلة وسعرها حاضراً، سيخسر الاسم المقارنة. مهمتنا أن نجعل القيمة حاضرة قبل أن يرى السعر.</a:t>
            </a:r>
            <a:endParaRPr lang="ar-IQ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فرضية للتحقق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 غير المرئية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1097280" y="3017520"/>
            <a:ext cx="9997135" cy="0"/>
          </a:xfrm>
          <a:prstGeom prst="line">
            <a:avLst/>
          </a:prstGeom>
          <a:noFill/>
          <a:ln w="25400">
            <a:solidFill>
              <a:srgbClr val="C9A55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0088575" y="2834640"/>
            <a:ext cx="365760" cy="365760"/>
          </a:xfrm>
          <a:prstGeom prst="ellipse">
            <a:avLst/>
          </a:prstGeom>
          <a:solidFill>
            <a:srgbClr val="C96B5C"/>
          </a:solidFill>
          <a:ln w="25400">
            <a:solidFill>
              <a:srgbClr val="0E17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82735" y="19659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C96B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082735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هنا يقارن التاجر</a:t>
            </a:r>
            <a:endParaRPr lang="ar-IQ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25535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الشمّة الأولى</a:t>
            </a:r>
            <a:endParaRPr lang="ar-IQ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625535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المحل، على الورقة</a:t>
            </a:r>
            <a:endParaRPr lang="ar-IQ" sz="1500" dirty="0"/>
          </a:p>
        </p:txBody>
      </p:sp>
      <p:sp>
        <p:nvSpPr>
          <p:cNvPr id="14" name="Shape 11"/>
          <p:cNvSpPr/>
          <p:nvPr/>
        </p:nvSpPr>
        <p:spPr>
          <a:xfrm>
            <a:off x="5882335" y="2834640"/>
            <a:ext cx="365760" cy="365760"/>
          </a:xfrm>
          <a:prstGeom prst="ellipse">
            <a:avLst/>
          </a:prstGeom>
          <a:solidFill>
            <a:srgbClr val="C9A55C"/>
          </a:solidFill>
          <a:ln w="25400">
            <a:solidFill>
              <a:srgbClr val="0E17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19295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ساعات</a:t>
            </a:r>
            <a:endParaRPr lang="ar-IQ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419295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الثبات على الجلد وتطور النوتات</a:t>
            </a:r>
            <a:endParaRPr lang="ar-IQ" sz="1500" dirty="0"/>
          </a:p>
        </p:txBody>
      </p:sp>
      <p:sp>
        <p:nvSpPr>
          <p:cNvPr id="17" name="Shape 14"/>
          <p:cNvSpPr/>
          <p:nvPr/>
        </p:nvSpPr>
        <p:spPr>
          <a:xfrm>
            <a:off x="1676095" y="2834640"/>
            <a:ext cx="365760" cy="365760"/>
          </a:xfrm>
          <a:prstGeom prst="ellipse">
            <a:avLst/>
          </a:prstGeom>
          <a:solidFill>
            <a:srgbClr val="C9A55C"/>
          </a:solidFill>
          <a:ln w="25400">
            <a:solidFill>
              <a:srgbClr val="0E17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0255" y="19659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C9A55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70255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هنا يظهر الفرق</a:t>
            </a:r>
            <a:endParaRPr lang="ar-IQ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13055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أسابيع</a:t>
            </a:r>
            <a:endParaRPr lang="ar-IQ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213055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تطابق الدفعات ورجوع الزبون</a:t>
            </a:r>
            <a:endParaRPr lang="ar-IQ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 صحّت الفرضية، فالتاجر لا يخطئ في الحكم؛ هو يحكم في التوقيت الخاطئ.</a:t>
            </a:r>
            <a:endParaRPr lang="ar-IQ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4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التحقق: عشر مقابلات قصيرة مع تجار يتعاملون مع جيفودان حالياً.</a:t>
            </a:r>
            <a:endParaRPr lang="ar-IQ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67048" y="1600200"/>
            <a:ext cx="3657600" cy="3657600"/>
          </a:xfrm>
          <a:prstGeom prst="ellipse">
            <a:avLst/>
          </a:prstGeom>
          <a:ln w="15875">
            <a:solidFill>
              <a:srgbClr val="C9A55C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18408" y="1051560"/>
            <a:ext cx="4754880" cy="4754880"/>
          </a:xfrm>
          <a:prstGeom prst="ellipse">
            <a:avLst/>
          </a:prstGeom>
          <a:ln w="15875">
            <a:solidFill>
              <a:srgbClr val="C9A55C">
                <a:alpha val="2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69768" y="502920"/>
            <a:ext cx="5852160" cy="5852160"/>
          </a:xfrm>
          <a:prstGeom prst="ellipse">
            <a:avLst/>
          </a:prstGeom>
          <a:ln w="15875">
            <a:solidFill>
              <a:srgbClr val="C9A55C">
                <a:alpha val="1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التشخيص</a:t>
            </a:r>
            <a:endParaRPr lang="ar-IQ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148840"/>
            <a:ext cx="9997135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35000"/>
              </a:lnSpc>
              <a:buNone/>
            </a:pPr>
            <a:r>
              <a:rPr lang="ar-IQ" altLang="en-US" sz="3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غير معروفة بالاسم، فتُقيَّم كسلعة.</a:t>
            </a:r>
            <a:endParaRPr lang="ar-IQ" sz="3600" dirty="0"/>
          </a:p>
          <a:p>
            <a:pPr rtl="1" algn="ctr" indent="0" marL="0">
              <a:lnSpc>
                <a:spcPct val="135000"/>
              </a:lnSpc>
              <a:buNone/>
            </a:pPr>
            <a:r>
              <a:rPr lang="ar-IQ" altLang="en-US" sz="3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وما يُقيَّم كسلعة يُحسم بالسعر.</a:t>
            </a:r>
            <a:endParaRPr lang="ar-IQ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4434840"/>
            <a:ext cx="944849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لذلك أول مهمة ليست إقناع التاجر بالجودة، بل تعريفه بالاسم الذي يقف وراءها.</a:t>
            </a:r>
            <a:endParaRPr lang="ar-IQ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نضج السوق  ·  Market Sophistication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 سمع كل الادعاءات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9677095" y="178308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77095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ثابت</a:t>
            </a:r>
            <a:endParaRPr lang="ar-IQ" sz="1800" dirty="0"/>
          </a:p>
        </p:txBody>
      </p:sp>
      <p:sp>
        <p:nvSpPr>
          <p:cNvPr id="10" name="Shape 7"/>
          <p:cNvSpPr/>
          <p:nvPr/>
        </p:nvSpPr>
        <p:spPr>
          <a:xfrm>
            <a:off x="9997135" y="2103120"/>
            <a:ext cx="1325880" cy="0"/>
          </a:xfrm>
          <a:prstGeom prst="line">
            <a:avLst/>
          </a:prstGeom>
          <a:noFill/>
          <a:ln w="25400">
            <a:solidFill>
              <a:srgbClr val="C96B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28255" y="178308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28255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فوّاح</a:t>
            </a:r>
            <a:endParaRPr lang="ar-IQ" sz="1800" dirty="0"/>
          </a:p>
        </p:txBody>
      </p:sp>
      <p:sp>
        <p:nvSpPr>
          <p:cNvPr id="13" name="Shape 10"/>
          <p:cNvSpPr/>
          <p:nvPr/>
        </p:nvSpPr>
        <p:spPr>
          <a:xfrm>
            <a:off x="7848295" y="2103120"/>
            <a:ext cx="1325880" cy="0"/>
          </a:xfrm>
          <a:prstGeom prst="line">
            <a:avLst/>
          </a:prstGeom>
          <a:noFill/>
          <a:ln w="25400">
            <a:solidFill>
              <a:srgbClr val="C96B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79415" y="178308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79415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درجة أولى</a:t>
            </a:r>
            <a:endParaRPr lang="ar-IQ" sz="1800" dirty="0"/>
          </a:p>
        </p:txBody>
      </p:sp>
      <p:sp>
        <p:nvSpPr>
          <p:cNvPr id="16" name="Shape 13"/>
          <p:cNvSpPr/>
          <p:nvPr/>
        </p:nvSpPr>
        <p:spPr>
          <a:xfrm>
            <a:off x="5699455" y="2103120"/>
            <a:ext cx="1325880" cy="0"/>
          </a:xfrm>
          <a:prstGeom prst="line">
            <a:avLst/>
          </a:prstGeom>
          <a:noFill/>
          <a:ln w="25400">
            <a:solidFill>
              <a:srgbClr val="C96B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77095" y="265176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77095" y="2651760"/>
            <a:ext cx="1965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أصلي 100%</a:t>
            </a:r>
            <a:endParaRPr lang="ar-IQ" sz="1800" dirty="0"/>
          </a:p>
        </p:txBody>
      </p:sp>
      <p:sp>
        <p:nvSpPr>
          <p:cNvPr id="19" name="Shape 16"/>
          <p:cNvSpPr/>
          <p:nvPr/>
        </p:nvSpPr>
        <p:spPr>
          <a:xfrm>
            <a:off x="9997135" y="2971800"/>
            <a:ext cx="1325880" cy="0"/>
          </a:xfrm>
          <a:prstGeom prst="line">
            <a:avLst/>
          </a:prstGeom>
          <a:noFill/>
          <a:ln w="25400">
            <a:solidFill>
              <a:srgbClr val="C96B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28255" y="265176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28255" y="2651760"/>
            <a:ext cx="1965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أقوى تركيز</a:t>
            </a:r>
            <a:endParaRPr lang="ar-IQ" sz="1800" dirty="0"/>
          </a:p>
        </p:txBody>
      </p:sp>
      <p:sp>
        <p:nvSpPr>
          <p:cNvPr id="22" name="Shape 19"/>
          <p:cNvSpPr/>
          <p:nvPr/>
        </p:nvSpPr>
        <p:spPr>
          <a:xfrm>
            <a:off x="7848295" y="2971800"/>
            <a:ext cx="1325880" cy="0"/>
          </a:xfrm>
          <a:prstGeom prst="line">
            <a:avLst/>
          </a:prstGeom>
          <a:noFill/>
          <a:ln w="25400">
            <a:solidFill>
              <a:srgbClr val="C96B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79415" y="3611880"/>
            <a:ext cx="62636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بائع زيوت في العراق يقول هذه الكلمات، ففقدت قيمتها.</a:t>
            </a:r>
            <a:endParaRPr lang="ar-IQ" sz="1600" dirty="0"/>
          </a:p>
        </p:txBody>
      </p:sp>
      <p:sp>
        <p:nvSpPr>
          <p:cNvPr id="24" name="Shape 21"/>
          <p:cNvSpPr/>
          <p:nvPr/>
        </p:nvSpPr>
        <p:spPr>
          <a:xfrm>
            <a:off x="4297680" y="2331720"/>
            <a:ext cx="1097280" cy="640080"/>
          </a:xfrm>
          <a:prstGeom prst="leftArrow">
            <a:avLst/>
          </a:prstGeom>
          <a:solidFill>
            <a:srgbClr val="C9A55C"/>
          </a:solidFill>
          <a:ln/>
        </p:spPr>
      </p:sp>
      <p:sp>
        <p:nvSpPr>
          <p:cNvPr id="25" name="Shape 22"/>
          <p:cNvSpPr/>
          <p:nvPr/>
        </p:nvSpPr>
        <p:spPr>
          <a:xfrm>
            <a:off x="1508760" y="1783080"/>
            <a:ext cx="1737360" cy="1737360"/>
          </a:xfrm>
          <a:prstGeom prst="ellipse">
            <a:avLst/>
          </a:prstGeom>
          <a:ln w="15875">
            <a:solidFill>
              <a:srgbClr val="C9A55C">
                <a:alpha val="9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43000" y="1417320"/>
            <a:ext cx="2468880" cy="2468880"/>
          </a:xfrm>
          <a:prstGeom prst="ellipse">
            <a:avLst/>
          </a:prstGeom>
          <a:ln w="15875">
            <a:solidFill>
              <a:srgbClr val="C9A55C">
                <a:alpha val="72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1051560"/>
            <a:ext cx="3200400" cy="3200400"/>
          </a:xfrm>
          <a:prstGeom prst="ellipse">
            <a:avLst/>
          </a:prstGeom>
          <a:ln w="15875">
            <a:solidFill>
              <a:srgbClr val="C9A55C">
                <a:alpha val="5400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8016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</a:t>
            </a:r>
            <a:endParaRPr lang="ar-IQ" sz="3000" dirty="0"/>
          </a:p>
        </p:txBody>
      </p:sp>
      <p:sp>
        <p:nvSpPr>
          <p:cNvPr id="29" name="Shape 26"/>
          <p:cNvSpPr/>
          <p:nvPr/>
        </p:nvSpPr>
        <p:spPr>
          <a:xfrm>
            <a:off x="548640" y="457200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4663440"/>
            <a:ext cx="10545775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ar-IQ" altLang="en-US" sz="18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سوق بهذا النضج لا نكسب بادعاء أكبر، بل بهوية جديدة يمكن تصديقها. </a:t>
            </a:r>
            <a:pPr algn="r" indent="0" marL="0">
              <a:lnSpc>
                <a:spcPct val="130000"/>
              </a:lnSpc>
              <a:buNone/>
            </a:pPr>
            <a:r>
              <a:rPr lang="ar-IQ" altLang="en-US" sz="18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لا تدّعي أنها جيدة؛ هي الجهة التي يأتي منها الجيد.</a:t>
            </a:r>
            <a:endParaRPr lang="ar-IQ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مستوى الوعي  ·  Awareness Level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نبدأ من الدرجة التي يقف عليها التاجر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9539935" y="4892040"/>
            <a:ext cx="2103120" cy="1097280"/>
          </a:xfrm>
          <a:prstGeom prst="rect">
            <a:avLst/>
          </a:prstGeom>
          <a:solidFill>
            <a:srgbClr val="C9A55C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31375" y="5001768"/>
            <a:ext cx="1920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يعرف الاسم</a:t>
            </a:r>
            <a:endParaRPr lang="ar-IQ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631375" y="5422392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الأولى</a:t>
            </a:r>
            <a:endParaRPr lang="ar-IQ" sz="1300" dirty="0"/>
          </a:p>
        </p:txBody>
      </p:sp>
      <p:sp>
        <p:nvSpPr>
          <p:cNvPr id="11" name="Shape 8"/>
          <p:cNvSpPr/>
          <p:nvPr/>
        </p:nvSpPr>
        <p:spPr>
          <a:xfrm>
            <a:off x="7345375" y="4343400"/>
            <a:ext cx="2103120" cy="1645920"/>
          </a:xfrm>
          <a:prstGeom prst="rect">
            <a:avLst/>
          </a:prstGeom>
          <a:solidFill>
            <a:srgbClr val="C9A55C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36815" y="4453128"/>
            <a:ext cx="1920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يعرف الاسم</a:t>
            </a:r>
            <a:endParaRPr lang="ar-IQ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436815" y="4873752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الأولى</a:t>
            </a:r>
            <a:endParaRPr lang="ar-IQ" sz="1300" dirty="0"/>
          </a:p>
        </p:txBody>
      </p:sp>
      <p:sp>
        <p:nvSpPr>
          <p:cNvPr id="14" name="Shape 11"/>
          <p:cNvSpPr/>
          <p:nvPr/>
        </p:nvSpPr>
        <p:spPr>
          <a:xfrm>
            <a:off x="5150815" y="3794760"/>
            <a:ext cx="2103120" cy="2194560"/>
          </a:xfrm>
          <a:prstGeom prst="rect">
            <a:avLst/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42255" y="3904488"/>
            <a:ext cx="1920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يفهم القيمة</a:t>
            </a:r>
            <a:endParaRPr lang="ar-IQ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242255" y="4325112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الثانية</a:t>
            </a:r>
            <a:endParaRPr lang="ar-IQ" sz="1300" dirty="0"/>
          </a:p>
        </p:txBody>
      </p:sp>
      <p:sp>
        <p:nvSpPr>
          <p:cNvPr id="17" name="Shape 14"/>
          <p:cNvSpPr/>
          <p:nvPr/>
        </p:nvSpPr>
        <p:spPr>
          <a:xfrm>
            <a:off x="2956255" y="3246120"/>
            <a:ext cx="2103120" cy="2743200"/>
          </a:xfrm>
          <a:prstGeom prst="rect">
            <a:avLst/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47695" y="3355848"/>
            <a:ext cx="1920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يعرف الطريق</a:t>
            </a:r>
            <a:endParaRPr lang="ar-IQ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047695" y="3776472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الثانية</a:t>
            </a:r>
            <a:endParaRPr lang="ar-IQ" sz="1300" dirty="0"/>
          </a:p>
        </p:txBody>
      </p:sp>
      <p:sp>
        <p:nvSpPr>
          <p:cNvPr id="20" name="Shape 17"/>
          <p:cNvSpPr/>
          <p:nvPr/>
        </p:nvSpPr>
        <p:spPr>
          <a:xfrm>
            <a:off x="761695" y="2697480"/>
            <a:ext cx="2103120" cy="3291840"/>
          </a:xfrm>
          <a:prstGeom prst="rect">
            <a:avLst/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3135" y="2807208"/>
            <a:ext cx="1920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يدافع عنها</a:t>
            </a:r>
            <a:endParaRPr lang="ar-IQ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53135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الثالثة</a:t>
            </a:r>
            <a:endParaRPr lang="ar-IQ" sz="1300" dirty="0"/>
          </a:p>
        </p:txBody>
      </p:sp>
      <p:sp>
        <p:nvSpPr>
          <p:cNvPr id="23" name="Shape 20"/>
          <p:cNvSpPr/>
          <p:nvPr/>
        </p:nvSpPr>
        <p:spPr>
          <a:xfrm>
            <a:off x="9539935" y="39319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4EFE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539935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اليوم</a:t>
            </a:r>
            <a:endParaRPr lang="ar-IQ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1600200"/>
            <a:ext cx="5760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IQ" altLang="en-US" sz="16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يعرف الزيوت والموردين والأسعار جيداً، لكنه لا يعرف الاسم: واعٍ بالمنتج، غير واعٍ بالبراند.</a:t>
            </a:r>
            <a:endParaRPr lang="ar-IQ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الاختيارات الاستراتيجية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نختاره، وما نرفضه</a:t>
            </a:r>
            <a:endParaRPr lang="ar-IQ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233008" y="1508760"/>
            <a:ext cx="54100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نختار</a:t>
            </a:r>
            <a:endParaRPr lang="ar-IQ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08760"/>
            <a:ext cx="54100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C9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ونرفض</a:t>
            </a:r>
            <a:endParaRPr lang="ar-IQ" sz="1800" dirty="0"/>
          </a:p>
        </p:txBody>
      </p:sp>
      <p:sp>
        <p:nvSpPr>
          <p:cNvPr id="10" name="Shape 7"/>
          <p:cNvSpPr/>
          <p:nvPr/>
        </p:nvSpPr>
        <p:spPr>
          <a:xfrm>
            <a:off x="6233008" y="1965960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20939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15888" y="1965960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مخاطبة التاجر</a:t>
            </a:r>
            <a:endParaRPr lang="ar-IQ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1965960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0E1726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8" y="20939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" y="1965960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مخاطبة المستهلك النهائي</a:t>
            </a:r>
            <a:endParaRPr lang="ar-IQ" sz="1600" dirty="0"/>
          </a:p>
        </p:txBody>
      </p:sp>
      <p:sp>
        <p:nvSpPr>
          <p:cNvPr id="16" name="Shape 11"/>
          <p:cNvSpPr/>
          <p:nvPr/>
        </p:nvSpPr>
        <p:spPr>
          <a:xfrm>
            <a:off x="6233008" y="2551176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267919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15888" y="2551176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الاسم</a:t>
            </a:r>
            <a:endParaRPr lang="ar-IQ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2551176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0E1726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488" y="267919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31520" y="2551176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 المنتج في هذه المرحلة</a:t>
            </a:r>
            <a:endParaRPr lang="ar-IQ" sz="1600" dirty="0"/>
          </a:p>
        </p:txBody>
      </p:sp>
      <p:sp>
        <p:nvSpPr>
          <p:cNvPr id="22" name="Shape 15"/>
          <p:cNvSpPr/>
          <p:nvPr/>
        </p:nvSpPr>
        <p:spPr>
          <a:xfrm>
            <a:off x="6233008" y="3136392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326440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415888" y="3136392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المصدر</a:t>
            </a:r>
            <a:endParaRPr lang="ar-IQ" sz="1600" dirty="0"/>
          </a:p>
        </p:txBody>
      </p:sp>
      <p:sp>
        <p:nvSpPr>
          <p:cNvPr id="25" name="Shape 17"/>
          <p:cNvSpPr/>
          <p:nvPr/>
        </p:nvSpPr>
        <p:spPr>
          <a:xfrm>
            <a:off x="548640" y="3136392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0E1726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1488" y="326440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31520" y="3136392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السعر والعروض</a:t>
            </a:r>
            <a:endParaRPr lang="ar-IQ" sz="1600" dirty="0"/>
          </a:p>
        </p:txBody>
      </p:sp>
      <p:sp>
        <p:nvSpPr>
          <p:cNvPr id="28" name="Shape 19"/>
          <p:cNvSpPr/>
          <p:nvPr/>
        </p:nvSpPr>
        <p:spPr>
          <a:xfrm>
            <a:off x="6233008" y="3721608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5855" y="3849624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415888" y="3721608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الهدوء والثقة</a:t>
            </a:r>
            <a:endParaRPr lang="ar-IQ" sz="1600" dirty="0"/>
          </a:p>
        </p:txBody>
      </p:sp>
      <p:sp>
        <p:nvSpPr>
          <p:cNvPr id="31" name="Shape 21"/>
          <p:cNvSpPr/>
          <p:nvPr/>
        </p:nvSpPr>
        <p:spPr>
          <a:xfrm>
            <a:off x="548640" y="3721608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0E1726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1488" y="3849624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31520" y="3721608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الصراخ والمبالغة</a:t>
            </a:r>
            <a:endParaRPr lang="ar-IQ" sz="1600" dirty="0"/>
          </a:p>
        </p:txBody>
      </p:sp>
      <p:sp>
        <p:nvSpPr>
          <p:cNvPr id="34" name="Shape 23"/>
          <p:cNvSpPr/>
          <p:nvPr/>
        </p:nvSpPr>
        <p:spPr>
          <a:xfrm>
            <a:off x="6233008" y="4306824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5855" y="4434840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415888" y="4306824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تجاهل المنافس</a:t>
            </a:r>
            <a:endParaRPr lang="ar-IQ" sz="1600" dirty="0"/>
          </a:p>
        </p:txBody>
      </p:sp>
      <p:sp>
        <p:nvSpPr>
          <p:cNvPr id="37" name="Shape 25"/>
          <p:cNvSpPr/>
          <p:nvPr/>
        </p:nvSpPr>
        <p:spPr>
          <a:xfrm>
            <a:off x="548640" y="4306824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0E1726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1488" y="4434840"/>
            <a:ext cx="237744" cy="237744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31520" y="4306824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مقارنة، مباشرة أو غير مباشرة</a:t>
            </a:r>
            <a:endParaRPr lang="ar-IQ" sz="1600" dirty="0"/>
          </a:p>
        </p:txBody>
      </p:sp>
      <p:sp>
        <p:nvSpPr>
          <p:cNvPr id="40" name="Shape 27"/>
          <p:cNvSpPr/>
          <p:nvPr/>
        </p:nvSpPr>
        <p:spPr>
          <a:xfrm>
            <a:off x="6233008" y="4892040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85855" y="5020056"/>
            <a:ext cx="237744" cy="237744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15888" y="4892040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عمق مع جمهور صغير ومحدد</a:t>
            </a:r>
            <a:endParaRPr lang="ar-IQ" sz="1600" dirty="0"/>
          </a:p>
        </p:txBody>
      </p:sp>
      <p:sp>
        <p:nvSpPr>
          <p:cNvPr id="43" name="Shape 29"/>
          <p:cNvSpPr/>
          <p:nvPr/>
        </p:nvSpPr>
        <p:spPr>
          <a:xfrm>
            <a:off x="548640" y="4892040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0E1726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1488" y="5020056"/>
            <a:ext cx="237744" cy="237744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731520" y="4892040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انتشار واسع بلا قيمة تجارية</a:t>
            </a:r>
            <a:endParaRPr lang="ar-IQ" sz="1600" dirty="0"/>
          </a:p>
        </p:txBody>
      </p:sp>
      <p:sp>
        <p:nvSpPr>
          <p:cNvPr id="46" name="Shape 31"/>
          <p:cNvSpPr/>
          <p:nvPr/>
        </p:nvSpPr>
        <p:spPr>
          <a:xfrm>
            <a:off x="6233008" y="5477256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85855" y="5605272"/>
            <a:ext cx="237744" cy="237744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15888" y="5477256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عبر المبيعات والواتساب</a:t>
            </a:r>
            <a:endParaRPr lang="ar-IQ" sz="1600" dirty="0"/>
          </a:p>
        </p:txBody>
      </p:sp>
      <p:sp>
        <p:nvSpPr>
          <p:cNvPr id="49" name="Shape 33"/>
          <p:cNvSpPr/>
          <p:nvPr/>
        </p:nvSpPr>
        <p:spPr>
          <a:xfrm>
            <a:off x="548640" y="5477256"/>
            <a:ext cx="5410048" cy="493776"/>
          </a:xfrm>
          <a:prstGeom prst="roundRect">
            <a:avLst>
              <a:gd name="adj" fmla="val 18519"/>
            </a:avLst>
          </a:prstGeom>
          <a:solidFill>
            <a:srgbClr val="0E1726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01488" y="5605272"/>
            <a:ext cx="237744" cy="237744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731520" y="5477256"/>
            <a:ext cx="463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انتظار أن يأتي التاجر بنفسه</a:t>
            </a:r>
            <a:endParaRPr lang="ar-IQ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داخل هرم نور النبراس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رأس الهرم لا ينظر إلى الأسفل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1965960" y="1737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C9A55C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65960" y="1737360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 ·  الجودة</a:t>
            </a:r>
            <a:endParaRPr lang="ar-IQ" sz="2000" dirty="0"/>
          </a:p>
        </p:txBody>
      </p:sp>
      <p:sp>
        <p:nvSpPr>
          <p:cNvPr id="10" name="Shape 7"/>
          <p:cNvSpPr/>
          <p:nvPr/>
        </p:nvSpPr>
        <p:spPr>
          <a:xfrm>
            <a:off x="1440180" y="2761488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40180" y="2761488"/>
            <a:ext cx="3703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  ·  السلاسة</a:t>
            </a:r>
            <a:endParaRPr lang="ar-IQ" sz="1700" dirty="0"/>
          </a:p>
        </p:txBody>
      </p:sp>
      <p:sp>
        <p:nvSpPr>
          <p:cNvPr id="12" name="Shape 9"/>
          <p:cNvSpPr/>
          <p:nvPr/>
        </p:nvSpPr>
        <p:spPr>
          <a:xfrm>
            <a:off x="914400" y="3785616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785616"/>
            <a:ext cx="47548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رويال  ·  الانتشار</a:t>
            </a:r>
            <a:endParaRPr lang="ar-IQ" sz="1700" dirty="0"/>
          </a:p>
        </p:txBody>
      </p:sp>
      <p:sp>
        <p:nvSpPr>
          <p:cNvPr id="14" name="Shape 11"/>
          <p:cNvSpPr/>
          <p:nvPr/>
        </p:nvSpPr>
        <p:spPr>
          <a:xfrm>
            <a:off x="388620" y="4809744"/>
            <a:ext cx="5806440" cy="868680"/>
          </a:xfrm>
          <a:prstGeom prst="roundRect">
            <a:avLst>
              <a:gd name="adj" fmla="val 8421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8620" y="4809744"/>
            <a:ext cx="58064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فلوراشم  ·  السعر</a:t>
            </a:r>
            <a:endParaRPr lang="ar-IQ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1828800"/>
            <a:ext cx="496793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</a:t>
            </a:r>
            <a:endParaRPr lang="ar-IQ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2286000"/>
            <a:ext cx="4967935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ar-IQ" altLang="en-US" sz="18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البراندات الأخرى يمكن أن تنظر إلى الأعلى نحو جيفودان، لكن صفحة جيفودان لا تنظر إلى الأسفل.</a:t>
            </a:r>
            <a:endParaRPr lang="ar-IQ" sz="18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ar-IQ" altLang="en-US" sz="18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IQ" sz="18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ar-IQ" altLang="en-US" sz="18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صفحة جيفودان: لا سعر، ولا ترويج لأي براند آخر من براندات نور النبراس.</a:t>
            </a:r>
            <a:endParaRPr lang="ar-IQ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التموضع (داخلي)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مكان جيفودان في ذهن التاجر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1094415" cy="2331720"/>
          </a:xfrm>
          <a:prstGeom prst="roundRect">
            <a:avLst>
              <a:gd name="adj" fmla="val 3922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91640"/>
            <a:ext cx="10362895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ar-IQ" altLang="en-US" sz="22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لتاجر العطور في العراق الذي يريد سمعة تدوم، </a:t>
            </a:r>
            <a:pPr algn="r" indent="0" marL="0">
              <a:lnSpc>
                <a:spcPct val="140000"/>
              </a:lnSpc>
              <a:buNone/>
            </a:pPr>
            <a:r>
              <a:rPr lang="ar-IQ" altLang="en-US" sz="2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هي المصدر العالمي </a:t>
            </a:r>
            <a:pPr algn="r" indent="0" marL="0">
              <a:lnSpc>
                <a:spcPct val="140000"/>
              </a:lnSpc>
              <a:buNone/>
            </a:pPr>
            <a:r>
              <a:rPr lang="ar-IQ" altLang="en-US" sz="22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الذي تُصنع فيه روائح كبرى الماركات، لأنها أكبر شركة في العالم في صناعة العطور والنكهات منذ 1895، </a:t>
            </a:r>
            <a:pPr algn="r" indent="0" marL="0">
              <a:lnSpc>
                <a:spcPct val="140000"/>
              </a:lnSpc>
              <a:buNone/>
            </a:pPr>
            <a:r>
              <a:rPr lang="ar-IQ" altLang="en-US" sz="2200" b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ونور النبراس هي الطريق إليها في العراق.</a:t>
            </a:r>
            <a:endParaRPr lang="ar-IQ" sz="2200" dirty="0"/>
          </a:p>
        </p:txBody>
      </p:sp>
      <p:sp>
        <p:nvSpPr>
          <p:cNvPr id="10" name="Shape 7"/>
          <p:cNvSpPr/>
          <p:nvPr/>
        </p:nvSpPr>
        <p:spPr>
          <a:xfrm>
            <a:off x="8127797" y="420624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4315968"/>
            <a:ext cx="305805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الرؤية</a:t>
            </a:r>
            <a:endParaRPr lang="ar-IQ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56397" y="4754880"/>
            <a:ext cx="305805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مرجع الجودة الأعلى في سوق الزيوت العطرية في العراق، ونور النبراس مصدرها.</a:t>
            </a:r>
            <a:endParaRPr lang="ar-IQ" sz="1500" dirty="0"/>
          </a:p>
        </p:txBody>
      </p:sp>
      <p:sp>
        <p:nvSpPr>
          <p:cNvPr id="13" name="Shape 10"/>
          <p:cNvSpPr/>
          <p:nvPr/>
        </p:nvSpPr>
        <p:spPr>
          <a:xfrm>
            <a:off x="4338218" y="420624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6818" y="4315968"/>
            <a:ext cx="305805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الرسالة</a:t>
            </a:r>
            <a:endParaRPr lang="ar-IQ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66818" y="4754880"/>
            <a:ext cx="305805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شركة في العالم بصناعة العطور، والجهة التي تقف وراء روائح الماركات العالمية.</a:t>
            </a:r>
            <a:endParaRPr lang="ar-IQ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315968"/>
            <a:ext cx="305805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</a:t>
            </a:r>
            <a:endParaRPr lang="ar-IQ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54880"/>
            <a:ext cx="305805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يعرف كل تاجر عطور في العراق من هي جيفودان.</a:t>
            </a:r>
            <a:endParaRPr lang="ar-IQ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الكبرى  ·  Single-Minded Proposition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لا تدخل سباق الصفات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1920240" y="2606040"/>
            <a:ext cx="2377440" cy="2377440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08760" y="2194560"/>
            <a:ext cx="3200400" cy="3200400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783080"/>
            <a:ext cx="4023360" cy="4023360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417320"/>
            <a:ext cx="4754880" cy="4754880"/>
          </a:xfrm>
          <a:prstGeom prst="ellipse">
            <a:avLst/>
          </a:prstGeom>
          <a:ln w="15875">
            <a:solidFill>
              <a:srgbClr val="C9A55C">
                <a:alpha val="46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28800" y="3383280"/>
            <a:ext cx="25603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3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</a:t>
            </a:r>
            <a:endParaRPr lang="ar-IQ" sz="3200" dirty="0"/>
          </a:p>
        </p:txBody>
      </p:sp>
      <p:sp>
        <p:nvSpPr>
          <p:cNvPr id="13" name="Shape 10"/>
          <p:cNvSpPr/>
          <p:nvPr/>
        </p:nvSpPr>
        <p:spPr>
          <a:xfrm>
            <a:off x="11140135" y="1645920"/>
            <a:ext cx="502920" cy="502920"/>
          </a:xfrm>
          <a:prstGeom prst="ellipse">
            <a:avLst/>
          </a:prstGeom>
          <a:solidFill>
            <a:srgbClr val="C9A5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140135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IQ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600200"/>
            <a:ext cx="473933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9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تُخرجنا من المقارنة</a:t>
            </a:r>
            <a:endParaRPr lang="ar-IQ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011680"/>
            <a:ext cx="473933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 لا يُقارن بغيره، فلا حاجة لذكر أي منافس.</a:t>
            </a:r>
            <a:endParaRPr lang="ar-IQ" sz="1500" dirty="0"/>
          </a:p>
        </p:txBody>
      </p:sp>
      <p:sp>
        <p:nvSpPr>
          <p:cNvPr id="17" name="Shape 14"/>
          <p:cNvSpPr/>
          <p:nvPr/>
        </p:nvSpPr>
        <p:spPr>
          <a:xfrm>
            <a:off x="11140135" y="2834640"/>
            <a:ext cx="502920" cy="502920"/>
          </a:xfrm>
          <a:prstGeom prst="ellipse">
            <a:avLst/>
          </a:prstGeom>
          <a:solidFill>
            <a:srgbClr val="C9A5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140135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IQ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2788920"/>
            <a:ext cx="473933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9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تبرّر السعر لاحقاً</a:t>
            </a:r>
            <a:endParaRPr lang="ar-IQ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3200400"/>
            <a:ext cx="473933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يفهم التاجر أنها مصدر، يصير السعر الأعلى منطقياً لا عيباً.</a:t>
            </a:r>
            <a:endParaRPr lang="ar-IQ" sz="1500" dirty="0"/>
          </a:p>
        </p:txBody>
      </p:sp>
      <p:sp>
        <p:nvSpPr>
          <p:cNvPr id="21" name="Shape 18"/>
          <p:cNvSpPr/>
          <p:nvPr/>
        </p:nvSpPr>
        <p:spPr>
          <a:xfrm>
            <a:off x="11140135" y="4023360"/>
            <a:ext cx="502920" cy="502920"/>
          </a:xfrm>
          <a:prstGeom prst="ellipse">
            <a:avLst/>
          </a:prstGeom>
          <a:solidFill>
            <a:srgbClr val="C9A55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140135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IQ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3977640"/>
            <a:ext cx="473933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9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تمهّد للحصرية</a:t>
            </a:r>
            <a:endParaRPr lang="ar-IQ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6217920" y="4389120"/>
            <a:ext cx="473933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 كانت هي المصدر، فالسؤال التالي: ومن أين أحصل عليه؟</a:t>
            </a:r>
            <a:endParaRPr lang="ar-IQ" sz="1500" dirty="0"/>
          </a:p>
        </p:txBody>
      </p:sp>
      <p:sp>
        <p:nvSpPr>
          <p:cNvPr id="25" name="Shape 22"/>
          <p:cNvSpPr/>
          <p:nvPr/>
        </p:nvSpPr>
        <p:spPr>
          <a:xfrm>
            <a:off x="6217920" y="5257800"/>
            <a:ext cx="5425135" cy="777240"/>
          </a:xfrm>
          <a:prstGeom prst="roundRect">
            <a:avLst>
              <a:gd name="adj" fmla="val 11765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5257800"/>
            <a:ext cx="505937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ar-IQ" altLang="en-US" sz="20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الشعار الموصى به:  </a:t>
            </a:r>
            <a:pPr algn="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هنا تبدأ الريحة</a:t>
            </a:r>
            <a:endParaRPr lang="ar-IQ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خيارات الشعار  ·  Tagline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خيارات، وتوصية واحدة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8127797" y="169164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68535" y="19202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C9A5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768535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الموصى به</a:t>
            </a:r>
            <a:endParaRPr lang="ar-IQ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56397" y="2560320"/>
            <a:ext cx="305805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2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«من هنا تبدأ الريحة»</a:t>
            </a:r>
            <a:endParaRPr lang="ar-IQ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356397" y="4069080"/>
            <a:ext cx="3058058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يقول «المصدر» دون ادعاء ودون ذكر أي ماركة. آمن قانونياً، ويعيش في المراحل الثلاث.</a:t>
            </a:r>
            <a:endParaRPr lang="ar-IQ" sz="1500" dirty="0"/>
          </a:p>
        </p:txBody>
      </p:sp>
      <p:sp>
        <p:nvSpPr>
          <p:cNvPr id="13" name="Shape 10"/>
          <p:cNvSpPr/>
          <p:nvPr/>
        </p:nvSpPr>
        <p:spPr>
          <a:xfrm>
            <a:off x="4338218" y="169164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78957" y="19202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F2E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78957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بديل</a:t>
            </a:r>
            <a:endParaRPr lang="ar-IQ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66818" y="2560320"/>
            <a:ext cx="305805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2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«قبل الماركة.. جيفودان»</a:t>
            </a:r>
            <a:endParaRPr lang="ar-IQ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4566818" y="4069080"/>
            <a:ext cx="3058058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قوي ومباشر، لكنه يقترب من أسماء الماركات العالمية ويحتاج حذراً في كل استخدام.</a:t>
            </a:r>
            <a:endParaRPr lang="ar-IQ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169164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89378" y="19202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F2E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189378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لحملة الإطلاق</a:t>
            </a:r>
            <a:endParaRPr lang="ar-IQ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2560320"/>
            <a:ext cx="305805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2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«وراء كل ريحة عالمية.. اسم واحد»</a:t>
            </a:r>
            <a:endParaRPr lang="ar-IQ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069080"/>
            <a:ext cx="3058058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يصلح عنواناً لحملة التعريف الأولى، لكنه طويل كشعار دائم.</a:t>
            </a:r>
            <a:endParaRPr lang="ar-IQ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الرسائل  ·  Message House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واحدة، وأربعة أدلة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10545775" cy="1143000"/>
          </a:xfrm>
          <a:prstGeom prst="triangle">
            <a:avLst/>
          </a:prstGeom>
          <a:solidFill>
            <a:srgbClr val="C9A5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26080" y="2011680"/>
            <a:ext cx="633953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هي المصدر الذي تُصنع فيه روائح الماركات العالمية</a:t>
            </a:r>
            <a:endParaRPr lang="ar-IQ" sz="1700" dirty="0"/>
          </a:p>
        </p:txBody>
      </p:sp>
      <p:sp>
        <p:nvSpPr>
          <p:cNvPr id="10" name="Shape 7"/>
          <p:cNvSpPr/>
          <p:nvPr/>
        </p:nvSpPr>
        <p:spPr>
          <a:xfrm>
            <a:off x="8903741" y="2697480"/>
            <a:ext cx="2464994" cy="2240280"/>
          </a:xfrm>
          <a:prstGeom prst="roundRect">
            <a:avLst>
              <a:gd name="adj" fmla="val 4082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86621" y="2834640"/>
            <a:ext cx="209923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الإرث</a:t>
            </a:r>
            <a:endParaRPr lang="ar-IQ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086621" y="3337560"/>
            <a:ext cx="2099234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منذ 1895 في سويسرا، وجذور في غراس الفرنسية تعود إلى 1768</a:t>
            </a:r>
            <a:endParaRPr lang="ar-IQ" sz="1500" dirty="0"/>
          </a:p>
        </p:txBody>
      </p:sp>
      <p:sp>
        <p:nvSpPr>
          <p:cNvPr id="13" name="Shape 10"/>
          <p:cNvSpPr/>
          <p:nvPr/>
        </p:nvSpPr>
        <p:spPr>
          <a:xfrm>
            <a:off x="6210148" y="2697480"/>
            <a:ext cx="2464994" cy="2240280"/>
          </a:xfrm>
          <a:prstGeom prst="roundRect">
            <a:avLst>
              <a:gd name="adj" fmla="val 4082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93028" y="2834640"/>
            <a:ext cx="209923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الحجم</a:t>
            </a:r>
            <a:endParaRPr lang="ar-IQ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93028" y="3337560"/>
            <a:ext cx="2099234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شركة في العالم في العطور والنكهات</a:t>
            </a:r>
            <a:endParaRPr lang="ar-IQ" sz="1500" dirty="0"/>
          </a:p>
        </p:txBody>
      </p:sp>
      <p:sp>
        <p:nvSpPr>
          <p:cNvPr id="16" name="Shape 13"/>
          <p:cNvSpPr/>
          <p:nvPr/>
        </p:nvSpPr>
        <p:spPr>
          <a:xfrm>
            <a:off x="3516554" y="2697480"/>
            <a:ext cx="2464994" cy="2240280"/>
          </a:xfrm>
          <a:prstGeom prst="roundRect">
            <a:avLst>
              <a:gd name="adj" fmla="val 4082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99434" y="2834640"/>
            <a:ext cx="209923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الحِرفة</a:t>
            </a:r>
            <a:endParaRPr lang="ar-IQ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3699434" y="3337560"/>
            <a:ext cx="2099234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مدرسة جيفودان للعطارة منذ 1946</a:t>
            </a:r>
            <a:endParaRPr lang="ar-IQ" sz="1500" dirty="0"/>
          </a:p>
        </p:txBody>
      </p:sp>
      <p:sp>
        <p:nvSpPr>
          <p:cNvPr id="19" name="Shape 16"/>
          <p:cNvSpPr/>
          <p:nvPr/>
        </p:nvSpPr>
        <p:spPr>
          <a:xfrm>
            <a:off x="822960" y="2697480"/>
            <a:ext cx="2464994" cy="2240280"/>
          </a:xfrm>
          <a:prstGeom prst="roundRect">
            <a:avLst>
              <a:gd name="adj" fmla="val 4082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2834640"/>
            <a:ext cx="209923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العلم</a:t>
            </a:r>
            <a:endParaRPr lang="ar-IQ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3337560"/>
            <a:ext cx="2099234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وتطوير ومواد خام خلف تركيبات الماركات الكبرى</a:t>
            </a:r>
            <a:endParaRPr lang="ar-IQ" sz="1500" dirty="0"/>
          </a:p>
        </p:txBody>
      </p:sp>
      <p:sp>
        <p:nvSpPr>
          <p:cNvPr id="22" name="Shape 19"/>
          <p:cNvSpPr/>
          <p:nvPr/>
        </p:nvSpPr>
        <p:spPr>
          <a:xfrm>
            <a:off x="822960" y="5074920"/>
            <a:ext cx="10545775" cy="868680"/>
          </a:xfrm>
          <a:prstGeom prst="roundRect">
            <a:avLst>
              <a:gd name="adj" fmla="val 10526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5074920"/>
            <a:ext cx="1018001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الأساس: </a:t>
            </a:r>
            <a:pPr algn="ct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 النبراس، العنوان الموثوق لجيفودان في العراق. جهة تواصل في المرحلة الأولى، وحصرية في الثانية.</a:t>
            </a:r>
            <a:endParaRPr lang="ar-IQ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أدلة الثقة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شركة في العالم في صناعة العطور والنكهات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9037015" y="18288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37015" y="2103120"/>
            <a:ext cx="26060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5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1895</a:t>
            </a:r>
            <a:endParaRPr lang="ar-IQ" sz="5200" dirty="0"/>
          </a:p>
        </p:txBody>
      </p:sp>
      <p:sp>
        <p:nvSpPr>
          <p:cNvPr id="10" name="Text 7"/>
          <p:cNvSpPr txBox="1"/>
          <p:nvPr/>
        </p:nvSpPr>
        <p:spPr>
          <a:xfrm>
            <a:off x="9265615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سنة التأسيس في سويسرا</a:t>
            </a:r>
            <a:endParaRPr lang="ar-IQ" sz="1500" dirty="0"/>
          </a:p>
        </p:txBody>
      </p:sp>
      <p:sp>
        <p:nvSpPr>
          <p:cNvPr id="11" name="Shape 8"/>
          <p:cNvSpPr/>
          <p:nvPr/>
        </p:nvSpPr>
        <p:spPr>
          <a:xfrm>
            <a:off x="6211519" y="18288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1519" y="2103120"/>
            <a:ext cx="26060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5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ar-IQ" sz="5200" dirty="0"/>
          </a:p>
        </p:txBody>
      </p:sp>
      <p:sp>
        <p:nvSpPr>
          <p:cNvPr id="13" name="Text 10"/>
          <p:cNvSpPr txBox="1"/>
          <p:nvPr/>
        </p:nvSpPr>
        <p:spPr>
          <a:xfrm>
            <a:off x="6440119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مليار فرنك سويسري مبيعات 2025</a:t>
            </a:r>
            <a:endParaRPr lang="ar-IQ" sz="1500" dirty="0"/>
          </a:p>
        </p:txBody>
      </p:sp>
      <p:sp>
        <p:nvSpPr>
          <p:cNvPr id="14" name="Shape 11"/>
          <p:cNvSpPr/>
          <p:nvPr/>
        </p:nvSpPr>
        <p:spPr>
          <a:xfrm>
            <a:off x="3386023" y="18288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86023" y="2103120"/>
            <a:ext cx="26060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5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17,000</a:t>
            </a:r>
            <a:endParaRPr lang="ar-IQ" sz="5200" dirty="0"/>
          </a:p>
        </p:txBody>
      </p:sp>
      <p:sp>
        <p:nvSpPr>
          <p:cNvPr id="16" name="Text 13"/>
          <p:cNvSpPr txBox="1"/>
          <p:nvPr/>
        </p:nvSpPr>
        <p:spPr>
          <a:xfrm>
            <a:off x="3614623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تقريباً حول العالم</a:t>
            </a:r>
            <a:endParaRPr lang="ar-IQ" sz="1500" dirty="0"/>
          </a:p>
        </p:txBody>
      </p:sp>
      <p:sp>
        <p:nvSpPr>
          <p:cNvPr id="17" name="Shape 14"/>
          <p:cNvSpPr/>
          <p:nvPr/>
        </p:nvSpPr>
        <p:spPr>
          <a:xfrm>
            <a:off x="560527" y="18288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0527" y="2103120"/>
            <a:ext cx="26060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5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1946</a:t>
            </a:r>
            <a:endParaRPr lang="ar-IQ" sz="5200" dirty="0"/>
          </a:p>
        </p:txBody>
      </p:sp>
      <p:sp>
        <p:nvSpPr>
          <p:cNvPr id="19" name="Text 16"/>
          <p:cNvSpPr txBox="1"/>
          <p:nvPr/>
        </p:nvSpPr>
        <p:spPr>
          <a:xfrm>
            <a:off x="789127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تأسيس مدرسة جيفودان للعطارة</a:t>
            </a:r>
            <a:endParaRPr lang="ar-IQ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846320"/>
            <a:ext cx="1109441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منها 3.8 مليار لقسم العطور والتجميل. ويُنسب إلى مدرسة جيفودان تدريب قرابة ثلث العطّارين المبدعين في العالم.</a:t>
            </a:r>
            <a:endParaRPr lang="ar-IQ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1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المصادر: نتائج جيفودان السنوية 2025 (givaudan.com)، وصفحة Givaudan على Wikipedia. تُراجَع قبل النشر.</a:t>
            </a:r>
            <a:endParaRPr lang="ar-IQ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صوت البراند  ·  Tone of Voice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نتكلم كاسم فاخر يعرف قيمته</a:t>
            </a:r>
            <a:endParaRPr lang="ar-IQ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351215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نحن</a:t>
            </a:r>
            <a:endParaRPr lang="ar-IQ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76495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ولسنا</a:t>
            </a:r>
            <a:endParaRPr lang="ar-IQ" sz="1600" dirty="0"/>
          </a:p>
        </p:txBody>
      </p:sp>
      <p:sp>
        <p:nvSpPr>
          <p:cNvPr id="10" name="Shape 7"/>
          <p:cNvSpPr/>
          <p:nvPr/>
        </p:nvSpPr>
        <p:spPr>
          <a:xfrm>
            <a:off x="8351215" y="1965960"/>
            <a:ext cx="3291840" cy="621792"/>
          </a:xfrm>
          <a:prstGeom prst="roundRect">
            <a:avLst>
              <a:gd name="adj" fmla="val 14706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88375" y="1965960"/>
            <a:ext cx="30175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واثقون</a:t>
            </a:r>
            <a:endParaRPr lang="ar-IQ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876495" y="1965960"/>
            <a:ext cx="3291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7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متعالين</a:t>
            </a:r>
            <a:endParaRPr lang="ar-IQ" sz="1700" dirty="0"/>
          </a:p>
        </p:txBody>
      </p:sp>
      <p:sp>
        <p:nvSpPr>
          <p:cNvPr id="13" name="Shape 10"/>
          <p:cNvSpPr/>
          <p:nvPr/>
        </p:nvSpPr>
        <p:spPr>
          <a:xfrm>
            <a:off x="8351215" y="2715768"/>
            <a:ext cx="3291840" cy="621792"/>
          </a:xfrm>
          <a:prstGeom prst="roundRect">
            <a:avLst>
              <a:gd name="adj" fmla="val 14706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88375" y="2715768"/>
            <a:ext cx="30175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خبراء نشرح ببساطة</a:t>
            </a:r>
            <a:endParaRPr lang="ar-IQ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876495" y="2715768"/>
            <a:ext cx="3291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7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أكاديميين نستعرض المصطلحات</a:t>
            </a:r>
            <a:endParaRPr lang="ar-IQ" sz="1700" dirty="0"/>
          </a:p>
        </p:txBody>
      </p:sp>
      <p:sp>
        <p:nvSpPr>
          <p:cNvPr id="16" name="Shape 13"/>
          <p:cNvSpPr/>
          <p:nvPr/>
        </p:nvSpPr>
        <p:spPr>
          <a:xfrm>
            <a:off x="8351215" y="3465576"/>
            <a:ext cx="3291840" cy="621792"/>
          </a:xfrm>
          <a:prstGeom prst="roundRect">
            <a:avLst>
              <a:gd name="adj" fmla="val 14706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88375" y="3465576"/>
            <a:ext cx="30175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هادئون</a:t>
            </a:r>
            <a:endParaRPr lang="ar-IQ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876495" y="3465576"/>
            <a:ext cx="3291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7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صاخبين بالعروض والإيموجي</a:t>
            </a:r>
            <a:endParaRPr lang="ar-IQ" sz="1700" dirty="0"/>
          </a:p>
        </p:txBody>
      </p:sp>
      <p:sp>
        <p:nvSpPr>
          <p:cNvPr id="19" name="Shape 16"/>
          <p:cNvSpPr/>
          <p:nvPr/>
        </p:nvSpPr>
        <p:spPr>
          <a:xfrm>
            <a:off x="8351215" y="4215384"/>
            <a:ext cx="3291840" cy="621792"/>
          </a:xfrm>
          <a:prstGeom prst="roundRect">
            <a:avLst>
              <a:gd name="adj" fmla="val 14706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88375" y="4215384"/>
            <a:ext cx="30175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قريبون من التاجر العراقي</a:t>
            </a:r>
            <a:endParaRPr lang="ar-IQ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876495" y="4215384"/>
            <a:ext cx="3291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7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شعبيين بلغة مبتذلة</a:t>
            </a:r>
            <a:endParaRPr lang="ar-IQ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1554480"/>
            <a:ext cx="4480560" cy="4434840"/>
          </a:xfrm>
          <a:prstGeom prst="roundRect">
            <a:avLst>
              <a:gd name="adj" fmla="val 2062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اللغة</a:t>
            </a:r>
            <a:endParaRPr lang="ar-IQ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2194560"/>
            <a:ext cx="40233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ar-IQ" altLang="en-US" sz="15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المكتوب: </a:t>
            </a:r>
            <a:pPr algn="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فصحى مبسّطة بجمل قصيرة.</a:t>
            </a:r>
            <a:endParaRPr lang="ar-IQ" sz="1500" dirty="0"/>
          </a:p>
          <a:p>
            <a:pPr algn="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ar-IQ" altLang="en-US" sz="15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الصوت: </a:t>
            </a:r>
            <a:pPr algn="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عراقية بيضاء يفهمها تاجر البصرة وتاجر الموصل.</a:t>
            </a:r>
            <a:endParaRPr lang="ar-IQ" sz="1500" dirty="0"/>
          </a:p>
          <a:p>
            <a:pPr algn="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ar-IQ" altLang="en-US" sz="15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الاسم: </a:t>
            </a:r>
            <a:pPr algn="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«جيفودان» مع Givaudan، يُكتب ويُنطق بشكل واحد دائماً حتى يحفظه السمع.</a:t>
            </a:r>
            <a:endParaRPr lang="ar-IQ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434840"/>
            <a:ext cx="40233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IQ" altLang="en-US" sz="13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نستخدم: المصدر، الأصل، الصنعة، العطّار، التركيبة</a:t>
            </a:r>
            <a:endParaRPr lang="ar-IQ" sz="13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ar-IQ" altLang="en-US" sz="13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نتجنب: الأفضل، الأرخص، عرض، خصم، «نفس ريحة» + ماركة</a:t>
            </a:r>
            <a:endParaRPr lang="ar-IQ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استراتيجية القنوات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قبل الإنتاج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9037015" y="160020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82935" y="1783080"/>
            <a:ext cx="731520" cy="731520"/>
          </a:xfrm>
          <a:prstGeom prst="ellipse">
            <a:avLst/>
          </a:prstGeom>
          <a:solidFill>
            <a:srgbClr val="0E1726"/>
          </a:solidFill>
          <a:ln w="12700">
            <a:solidFill>
              <a:srgbClr val="C9A5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959" y="19751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219895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9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إنستغرام</a:t>
            </a:r>
            <a:endParaRPr lang="ar-IQ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9219895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وملف الاعتماد</a:t>
            </a:r>
            <a:endParaRPr lang="ar-IQ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219895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4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يبحث عن الاسم يجد الجواب في أول تسعة مربعات وفي الهايلايتس.</a:t>
            </a:r>
            <a:endParaRPr lang="ar-IQ" sz="1400" dirty="0"/>
          </a:p>
        </p:txBody>
      </p:sp>
      <p:sp>
        <p:nvSpPr>
          <p:cNvPr id="14" name="Shape 10"/>
          <p:cNvSpPr/>
          <p:nvPr/>
        </p:nvSpPr>
        <p:spPr>
          <a:xfrm>
            <a:off x="6211519" y="160020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57439" y="1783080"/>
            <a:ext cx="731520" cy="731520"/>
          </a:xfrm>
          <a:prstGeom prst="ellipse">
            <a:avLst/>
          </a:prstGeom>
          <a:solidFill>
            <a:srgbClr val="0E1726"/>
          </a:solidFill>
          <a:ln w="12700">
            <a:solidFill>
              <a:srgbClr val="C9A55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3" y="19751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4399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9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فيسبوك</a:t>
            </a:r>
            <a:endParaRPr lang="ar-IQ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394399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 الأكبر للتاجر</a:t>
            </a:r>
            <a:endParaRPr lang="ar-IQ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94399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4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مجموعات التجار، واستهداف ممول حسب المحافظة.</a:t>
            </a:r>
            <a:endParaRPr lang="ar-IQ" sz="1400" dirty="0"/>
          </a:p>
        </p:txBody>
      </p:sp>
      <p:sp>
        <p:nvSpPr>
          <p:cNvPr id="20" name="Shape 15"/>
          <p:cNvSpPr/>
          <p:nvPr/>
        </p:nvSpPr>
        <p:spPr>
          <a:xfrm>
            <a:off x="3386023" y="160020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31943" y="1783080"/>
            <a:ext cx="731520" cy="731520"/>
          </a:xfrm>
          <a:prstGeom prst="ellipse">
            <a:avLst/>
          </a:prstGeom>
          <a:solidFill>
            <a:srgbClr val="0E1726"/>
          </a:solidFill>
          <a:ln w="12700">
            <a:solidFill>
              <a:srgbClr val="C9A55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967" y="197510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568903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9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تيك توك</a:t>
            </a:r>
            <a:endParaRPr lang="ar-IQ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3568903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الاكتشاف والألفة</a:t>
            </a:r>
            <a:endParaRPr lang="ar-IQ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3568903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4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يحفظ السمع الاسم بصيغ قصيرة.</a:t>
            </a:r>
            <a:endParaRPr lang="ar-IQ" sz="1400" dirty="0"/>
          </a:p>
        </p:txBody>
      </p:sp>
      <p:sp>
        <p:nvSpPr>
          <p:cNvPr id="26" name="Shape 20"/>
          <p:cNvSpPr/>
          <p:nvPr/>
        </p:nvSpPr>
        <p:spPr>
          <a:xfrm>
            <a:off x="560527" y="160020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206447" y="1783080"/>
            <a:ext cx="731520" cy="731520"/>
          </a:xfrm>
          <a:prstGeom prst="ellipse">
            <a:avLst/>
          </a:prstGeom>
          <a:solidFill>
            <a:srgbClr val="0E1726"/>
          </a:solidFill>
          <a:ln w="12700">
            <a:solidFill>
              <a:srgbClr val="C9A55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471" y="197510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43407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9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واتساب + المبيعات</a:t>
            </a:r>
            <a:endParaRPr lang="ar-IQ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743407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والقياس</a:t>
            </a:r>
            <a:endParaRPr lang="ar-IQ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43407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4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المندوب يرسل المواد ويسجّل كل استفسار يذكر الاسم.</a:t>
            </a:r>
            <a:endParaRPr lang="ar-IQ" sz="1400" dirty="0"/>
          </a:p>
        </p:txBody>
      </p:sp>
      <p:sp>
        <p:nvSpPr>
          <p:cNvPr id="32" name="Shape 25"/>
          <p:cNvSpPr/>
          <p:nvPr/>
        </p:nvSpPr>
        <p:spPr>
          <a:xfrm>
            <a:off x="548640" y="516636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77240" y="5166360"/>
            <a:ext cx="10637215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IQ" altLang="en-US" sz="14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الترويج الممول: </a:t>
            </a:r>
            <a:pPr algn="r" indent="0" marL="0">
              <a:lnSpc>
                <a:spcPct val="120000"/>
              </a:lnSpc>
              <a:buNone/>
            </a:pPr>
            <a:r>
              <a:rPr lang="ar-IQ" alt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ميزانية صغيرة مركّزة. استهداف جغرافي، وجمهور مخصص من أرقام التجار لدى نور النبراس، وإعادة استهداف من شاهد الفيديوهات. الهدف تكرار ظهور الاسم للتاجر نفسه.</a:t>
            </a:r>
            <a:endParaRPr lang="ar-IQ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القواعد الذهبية للمرحلة الأولى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يُسمح به، وما لا يُسمح به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6233008" y="160020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18196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15888" y="160020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رقم أو ادعاء له مصدر رسمي</a:t>
            </a:r>
            <a:endParaRPr lang="ar-IQ" sz="1600" dirty="0"/>
          </a:p>
        </p:txBody>
      </p:sp>
      <p:sp>
        <p:nvSpPr>
          <p:cNvPr id="11" name="Shape 7"/>
          <p:cNvSpPr/>
          <p:nvPr/>
        </p:nvSpPr>
        <p:spPr>
          <a:xfrm>
            <a:off x="6233008" y="246888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268833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15888" y="246888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مكتوب ومنطوق بشكل موحّد دائماً</a:t>
            </a:r>
            <a:endParaRPr lang="ar-IQ" sz="1600" dirty="0"/>
          </a:p>
        </p:txBody>
      </p:sp>
      <p:sp>
        <p:nvSpPr>
          <p:cNvPr id="14" name="Shape 9"/>
          <p:cNvSpPr/>
          <p:nvPr/>
        </p:nvSpPr>
        <p:spPr>
          <a:xfrm>
            <a:off x="6233008" y="333756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55701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15888" y="333756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 النبراس ظاهرة كجهة تواصل</a:t>
            </a:r>
            <a:endParaRPr lang="ar-IQ" sz="1600" dirty="0"/>
          </a:p>
        </p:txBody>
      </p:sp>
      <p:sp>
        <p:nvSpPr>
          <p:cNvPr id="17" name="Shape 11"/>
          <p:cNvSpPr/>
          <p:nvPr/>
        </p:nvSpPr>
        <p:spPr>
          <a:xfrm>
            <a:off x="6233008" y="420624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0135" y="442569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15888" y="420624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الالتزام بدليل هوية جيفودان المعتمد</a:t>
            </a:r>
            <a:endParaRPr lang="ar-IQ" sz="1600" dirty="0"/>
          </a:p>
        </p:txBody>
      </p:sp>
      <p:sp>
        <p:nvSpPr>
          <p:cNvPr id="20" name="Shape 13"/>
          <p:cNvSpPr/>
          <p:nvPr/>
        </p:nvSpPr>
        <p:spPr>
          <a:xfrm>
            <a:off x="6233008" y="507492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0135" y="5294376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415888" y="507492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استفسار يُنقل إلى الواتساب ويُسجّل</a:t>
            </a:r>
            <a:endParaRPr lang="ar-IQ" sz="1600" dirty="0"/>
          </a:p>
        </p:txBody>
      </p:sp>
      <p:sp>
        <p:nvSpPr>
          <p:cNvPr id="23" name="Shape 15"/>
          <p:cNvSpPr/>
          <p:nvPr/>
        </p:nvSpPr>
        <p:spPr>
          <a:xfrm>
            <a:off x="548640" y="160020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1819656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31520" y="160020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سعر ولا بيع ولا عروض</a:t>
            </a:r>
            <a:endParaRPr lang="ar-IQ" sz="1600" dirty="0"/>
          </a:p>
        </p:txBody>
      </p:sp>
      <p:sp>
        <p:nvSpPr>
          <p:cNvPr id="26" name="Shape 17"/>
          <p:cNvSpPr/>
          <p:nvPr/>
        </p:nvSpPr>
        <p:spPr>
          <a:xfrm>
            <a:off x="548640" y="246888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768" y="2688336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31520" y="246888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مقارنة ولا ذكر لوزي، لا تصريحاً ولا تلميحاً</a:t>
            </a:r>
            <a:endParaRPr lang="ar-IQ" sz="1600" dirty="0"/>
          </a:p>
        </p:txBody>
      </p:sp>
      <p:sp>
        <p:nvSpPr>
          <p:cNvPr id="29" name="Shape 19"/>
          <p:cNvSpPr/>
          <p:nvPr/>
        </p:nvSpPr>
        <p:spPr>
          <a:xfrm>
            <a:off x="548640" y="333756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5768" y="3557016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31520" y="333756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إعلان للحصرية قبل بوابة المرحلة الثانية</a:t>
            </a:r>
            <a:endParaRPr lang="ar-IQ" sz="1600" dirty="0"/>
          </a:p>
        </p:txBody>
      </p:sp>
      <p:sp>
        <p:nvSpPr>
          <p:cNvPr id="32" name="Shape 21"/>
          <p:cNvSpPr/>
          <p:nvPr/>
        </p:nvSpPr>
        <p:spPr>
          <a:xfrm>
            <a:off x="548640" y="420624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4425696"/>
            <a:ext cx="292608" cy="292608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31520" y="420624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ادعاء مطابقة لأي ماركة عالمية مسجلة</a:t>
            </a:r>
            <a:endParaRPr lang="ar-IQ" sz="1600" dirty="0"/>
          </a:p>
        </p:txBody>
      </p:sp>
      <p:sp>
        <p:nvSpPr>
          <p:cNvPr id="35" name="Shape 23"/>
          <p:cNvSpPr/>
          <p:nvPr/>
        </p:nvSpPr>
        <p:spPr>
          <a:xfrm>
            <a:off x="548640" y="5074920"/>
            <a:ext cx="5410048" cy="731520"/>
          </a:xfrm>
          <a:prstGeom prst="roundRect">
            <a:avLst>
              <a:gd name="adj" fmla="val 125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5768" y="5294376"/>
            <a:ext cx="292608" cy="292608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731520" y="5074920"/>
            <a:ext cx="458708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خلط مع ADF أو رويال أو فلوراشم</a:t>
            </a:r>
            <a:endParaRPr lang="ar-IQ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سياسة المنافس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الصمت سياسة، والرد بروتوكول</a:t>
            </a:r>
            <a:endParaRPr lang="ar-IQ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6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ذكر المنافس يمنحه شهرة مجانية، ويضع التاجر الذي يتعامل معه في موقع الدفاع. لذلك لا نذكره أبداً، ونردّ بصيغ ثابتة:</a:t>
            </a:r>
            <a:endParaRPr lang="ar-IQ" sz="1600" dirty="0"/>
          </a:p>
        </p:txBody>
      </p:sp>
      <p:sp>
        <p:nvSpPr>
          <p:cNvPr id="9" name="Shape 6"/>
          <p:cNvSpPr/>
          <p:nvPr/>
        </p:nvSpPr>
        <p:spPr>
          <a:xfrm>
            <a:off x="8259775" y="22860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96935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عن السعر</a:t>
            </a:r>
            <a:endParaRPr lang="ar-IQ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286000"/>
            <a:ext cx="7528255" cy="777240"/>
          </a:xfrm>
          <a:prstGeom prst="roundRect">
            <a:avLst>
              <a:gd name="adj" fmla="val 1176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286000"/>
            <a:ext cx="71624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«تفاصيل الأسعار عند فريقنا على الواتساب» + الرقم. لا سعر في العلن.</a:t>
            </a:r>
            <a:endParaRPr lang="ar-IQ" sz="1500" dirty="0"/>
          </a:p>
        </p:txBody>
      </p:sp>
      <p:sp>
        <p:nvSpPr>
          <p:cNvPr id="13" name="Shape 10"/>
          <p:cNvSpPr/>
          <p:nvPr/>
        </p:nvSpPr>
        <p:spPr>
          <a:xfrm>
            <a:off x="8259775" y="32004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96935" y="3200400"/>
            <a:ext cx="3108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بمنافس</a:t>
            </a:r>
            <a:endParaRPr lang="ar-IQ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7528255" cy="777240"/>
          </a:xfrm>
          <a:prstGeom prst="roundRect">
            <a:avLst>
              <a:gd name="adj" fmla="val 1176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200400"/>
            <a:ext cx="71624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جدال ولا ذكر للاسم. نعيد الحديث إلى المصدر وننقله إلى الخاص.</a:t>
            </a:r>
            <a:endParaRPr lang="ar-IQ" sz="1500" dirty="0"/>
          </a:p>
        </p:txBody>
      </p:sp>
      <p:sp>
        <p:nvSpPr>
          <p:cNvPr id="17" name="Shape 14"/>
          <p:cNvSpPr/>
          <p:nvPr/>
        </p:nvSpPr>
        <p:spPr>
          <a:xfrm>
            <a:off x="8259775" y="41148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96935" y="4114800"/>
            <a:ext cx="3108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«غالية»</a:t>
            </a:r>
            <a:endParaRPr lang="ar-IQ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114800"/>
            <a:ext cx="7528255" cy="777240"/>
          </a:xfrm>
          <a:prstGeom prst="roundRect">
            <a:avLst>
              <a:gd name="adj" fmla="val 1176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114800"/>
            <a:ext cx="71624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تبرير في العلن. شكر ونقل إلى الخاص، والمندوب يتعامل معها وجهاً لوجه.</a:t>
            </a:r>
            <a:endParaRPr lang="ar-IQ" sz="1500" dirty="0"/>
          </a:p>
        </p:txBody>
      </p:sp>
      <p:sp>
        <p:nvSpPr>
          <p:cNvPr id="21" name="Shape 18"/>
          <p:cNvSpPr/>
          <p:nvPr/>
        </p:nvSpPr>
        <p:spPr>
          <a:xfrm>
            <a:off x="8259775" y="50292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96935" y="5029200"/>
            <a:ext cx="3108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تشكيك أو جهة تدّعي البيع</a:t>
            </a:r>
            <a:endParaRPr lang="ar-IQ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7528255" cy="777240"/>
          </a:xfrm>
          <a:prstGeom prst="roundRect">
            <a:avLst>
              <a:gd name="adj" fmla="val 1176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5029200"/>
            <a:ext cx="71624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نقل فوري إلى الخاص وتوثيق الحالة. تُستخدم لتسريع طرح الحصرية.</a:t>
            </a:r>
            <a:endParaRPr lang="ar-IQ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القياس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التعرّض إلى التذكّر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6430975" y="15544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0975" y="1554480"/>
            <a:ext cx="512064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التعرّض</a:t>
            </a:r>
            <a:endParaRPr lang="ar-IQ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54480"/>
            <a:ext cx="5669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 + المشاهدات</a:t>
            </a:r>
            <a:endParaRPr lang="ar-IQ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011680"/>
            <a:ext cx="5669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وصل الاسم؟</a:t>
            </a:r>
            <a:endParaRPr lang="ar-IQ" sz="1300" dirty="0"/>
          </a:p>
        </p:txBody>
      </p:sp>
      <p:sp>
        <p:nvSpPr>
          <p:cNvPr id="12" name="Shape 9"/>
          <p:cNvSpPr/>
          <p:nvPr/>
        </p:nvSpPr>
        <p:spPr>
          <a:xfrm>
            <a:off x="6751015" y="2542032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1015" y="2542032"/>
            <a:ext cx="448056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التأثير</a:t>
            </a:r>
            <a:endParaRPr lang="ar-IQ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542032"/>
            <a:ext cx="5669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(الحفظ + المشاركة) ÷ الوصول</a:t>
            </a:r>
            <a:endParaRPr lang="ar-IQ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999232"/>
            <a:ext cx="5669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رأى قيمة تستحق الإرسال؟</a:t>
            </a:r>
            <a:endParaRPr lang="ar-IQ" sz="1300" dirty="0"/>
          </a:p>
        </p:txBody>
      </p:sp>
      <p:sp>
        <p:nvSpPr>
          <p:cNvPr id="16" name="Shape 13"/>
          <p:cNvSpPr/>
          <p:nvPr/>
        </p:nvSpPr>
        <p:spPr>
          <a:xfrm>
            <a:off x="7071055" y="3529584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71055" y="3529584"/>
            <a:ext cx="3840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التعرّف</a:t>
            </a:r>
            <a:endParaRPr lang="ar-IQ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529584"/>
            <a:ext cx="5669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الاستفسارات بالاسم في واتساب والمبيعات</a:t>
            </a:r>
            <a:endParaRPr lang="ar-IQ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986784"/>
            <a:ext cx="5669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صار الاسم في كلامه؟</a:t>
            </a:r>
            <a:endParaRPr lang="ar-IQ" sz="1300" dirty="0"/>
          </a:p>
        </p:txBody>
      </p:sp>
      <p:sp>
        <p:nvSpPr>
          <p:cNvPr id="20" name="Shape 17"/>
          <p:cNvSpPr/>
          <p:nvPr/>
        </p:nvSpPr>
        <p:spPr>
          <a:xfrm>
            <a:off x="7391095" y="4517136"/>
            <a:ext cx="3200400" cy="841248"/>
          </a:xfrm>
          <a:prstGeom prst="roundRect">
            <a:avLst>
              <a:gd name="adj" fmla="val 8696"/>
            </a:avLst>
          </a:prstGeom>
          <a:solidFill>
            <a:srgbClr val="C9A55C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91095" y="4517136"/>
            <a:ext cx="320040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التذكّر (جديد)</a:t>
            </a:r>
            <a:endParaRPr lang="ar-IQ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17136"/>
            <a:ext cx="5669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تاجراً شهرياً: «لمن تسمع جيفودان، شنو أول شي يجي ببالك؟»</a:t>
            </a:r>
            <a:endParaRPr lang="ar-IQ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974336"/>
            <a:ext cx="5669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تحقق الهدف فعلاً؟</a:t>
            </a:r>
            <a:endParaRPr lang="ar-IQ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553212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5532120"/>
            <a:ext cx="1072865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ar-IQ" altLang="en-US" sz="1400" b="1" dirty="0">
                <a:solidFill>
                  <a:srgbClr val="C9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نعدّه نجاحاً: </a:t>
            </a:r>
            <a:pPr algn="r" indent="0" marL="0">
              <a:lnSpc>
                <a:spcPct val="110000"/>
              </a:lnSpc>
              <a:buNone/>
            </a:pPr>
            <a:r>
              <a:rPr lang="ar-IQ" alt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المتابعون والإعجابات.   </a:t>
            </a:r>
            <a:pPr algn="r" indent="0" marL="0">
              <a:lnSpc>
                <a:spcPct val="110000"/>
              </a:lnSpc>
              <a:buNone/>
            </a:pPr>
            <a:r>
              <a:rPr lang="ar-IQ" altLang="en-US" sz="14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الأساس: </a:t>
            </a:r>
            <a:pPr algn="r" indent="0" marL="0">
              <a:lnSpc>
                <a:spcPct val="110000"/>
              </a:lnSpc>
              <a:buNone/>
            </a:pPr>
            <a:r>
              <a:rPr lang="ar-IQ" alt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4 أسابيع، ثم تُحدَّد الأهداف الرقمية.</a:t>
            </a:r>
            <a:endParaRPr lang="ar-IQ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المرحلة الثانية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ننتقل بالشروط، لا بالتاريخ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8127797" y="1691640"/>
            <a:ext cx="3515258" cy="2468880"/>
          </a:xfrm>
          <a:prstGeom prst="roundRect">
            <a:avLst>
              <a:gd name="adj" fmla="val 3704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7797" y="1874520"/>
            <a:ext cx="351525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4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أشهر</a:t>
            </a:r>
            <a:endParaRPr lang="ar-IQ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402117" y="2971800"/>
            <a:ext cx="296661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متتالٍ في الاستفسارات بالاسم</a:t>
            </a:r>
            <a:endParaRPr lang="ar-IQ" sz="1600" dirty="0"/>
          </a:p>
        </p:txBody>
      </p:sp>
      <p:sp>
        <p:nvSpPr>
          <p:cNvPr id="11" name="Shape 8"/>
          <p:cNvSpPr/>
          <p:nvPr/>
        </p:nvSpPr>
        <p:spPr>
          <a:xfrm>
            <a:off x="4338218" y="1691640"/>
            <a:ext cx="3515258" cy="2468880"/>
          </a:xfrm>
          <a:prstGeom prst="roundRect">
            <a:avLst>
              <a:gd name="adj" fmla="val 3704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38218" y="1874520"/>
            <a:ext cx="351525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4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ar-IQ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2971800"/>
            <a:ext cx="296661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عيّنة التذكّر يربطون جيفودان بالعالمية أو المصدر</a:t>
            </a:r>
            <a:endParaRPr lang="ar-IQ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1691640"/>
            <a:ext cx="3515258" cy="2468880"/>
          </a:xfrm>
          <a:prstGeom prst="roundRect">
            <a:avLst>
              <a:gd name="adj" fmla="val 3704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1874520"/>
            <a:ext cx="351525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40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فوق الأساس</a:t>
            </a:r>
            <a:endParaRPr lang="ar-IQ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971800"/>
            <a:ext cx="296661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ar-IQ" alt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معدل الحفظ والمشاركة مستقر</a:t>
            </a:r>
            <a:endParaRPr lang="ar-IQ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1F2E4A"/>
          </a:solidFill>
          <a:ln w="9525">
            <a:solidFill>
              <a:srgbClr val="C96B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526280"/>
            <a:ext cx="10545775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ar-IQ" altLang="en-US" sz="1700" b="1" dirty="0">
                <a:solidFill>
                  <a:srgbClr val="C9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استثناء يسرّع الانتقال</a:t>
            </a:r>
            <a:endParaRPr lang="ar-IQ" sz="17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ar-IQ" altLang="en-US" sz="17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رُصدت جهات تدّعي بيع جيفودان وتستفيد من الوعي الذي نبنيه، نطرح الحصرية فوراً دون انتظار باقي الشروط. هذا أكبر خطر في تأجيل الحصرية.</a:t>
            </a:r>
            <a:endParaRPr lang="ar-IQ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المراحل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الاسم، إلى الحصرية، إلى الشراكة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8351215" y="160020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F2E4A"/>
          </a:solidFill>
          <a:ln w="9525">
            <a:solidFill>
              <a:srgbClr val="C9A5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79815" y="1737360"/>
            <a:ext cx="2834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ar-IQ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579815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</a:t>
            </a:r>
            <a:endParaRPr lang="ar-IQ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579815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i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«منو جيفودان؟»</a:t>
            </a:r>
            <a:endParaRPr lang="ar-IQ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579815" y="3474720"/>
            <a:ext cx="28346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الاسم بفكرة المصدر</a:t>
            </a:r>
            <a:endParaRPr lang="ar-IQ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579815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المؤشر: الاستفسارات بالاسم + التذكّر</a:t>
            </a:r>
            <a:endParaRPr lang="ar-IQ" sz="1300" dirty="0"/>
          </a:p>
        </p:txBody>
      </p:sp>
      <p:sp>
        <p:nvSpPr>
          <p:cNvPr id="14" name="Shape 11"/>
          <p:cNvSpPr/>
          <p:nvPr/>
        </p:nvSpPr>
        <p:spPr>
          <a:xfrm>
            <a:off x="7814920" y="3611880"/>
            <a:ext cx="463144" cy="365760"/>
          </a:xfrm>
          <a:prstGeom prst="leftArrow">
            <a:avLst/>
          </a:prstGeom>
          <a:solidFill>
            <a:srgbClr val="C9A55C"/>
          </a:solidFill>
          <a:ln/>
        </p:spPr>
      </p:sp>
      <p:sp>
        <p:nvSpPr>
          <p:cNvPr id="15" name="Shape 12"/>
          <p:cNvSpPr/>
          <p:nvPr/>
        </p:nvSpPr>
        <p:spPr>
          <a:xfrm>
            <a:off x="4449928" y="160020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78528" y="1737360"/>
            <a:ext cx="2834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ar-IQ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4678528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الحصرية والفجوة</a:t>
            </a:r>
            <a:endParaRPr lang="ar-IQ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67852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i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«ومنين أجيبها؟»</a:t>
            </a:r>
            <a:endParaRPr lang="ar-IQ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678528" y="3474720"/>
            <a:ext cx="28346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الأصل من نور النبراس فقط، وجعل الفجوة غير المرئية مرئية</a:t>
            </a:r>
            <a:endParaRPr lang="ar-IQ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678528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المؤشر: طلبات التعامل الجديدة</a:t>
            </a:r>
            <a:endParaRPr lang="ar-IQ" sz="1300" dirty="0"/>
          </a:p>
        </p:txBody>
      </p:sp>
      <p:sp>
        <p:nvSpPr>
          <p:cNvPr id="21" name="Shape 18"/>
          <p:cNvSpPr/>
          <p:nvPr/>
        </p:nvSpPr>
        <p:spPr>
          <a:xfrm>
            <a:off x="3913632" y="3611880"/>
            <a:ext cx="463144" cy="365760"/>
          </a:xfrm>
          <a:prstGeom prst="leftArrow">
            <a:avLst/>
          </a:prstGeom>
          <a:solidFill>
            <a:srgbClr val="C9A55C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160020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1737360"/>
            <a:ext cx="2834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6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ar-IQ" sz="36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الشراكة (مقترحة)</a:t>
            </a:r>
            <a:endParaRPr lang="ar-IQ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600" i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«شلون أربح منها أكثر؟»</a:t>
            </a:r>
            <a:endParaRPr lang="ar-IQ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3474720"/>
            <a:ext cx="28346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IQ" alt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«تاجر جيفودان المعتمد» بعد موافقة جيفودان</a:t>
            </a:r>
            <a:endParaRPr lang="ar-IQ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3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المؤشر: عدد التجار الشركاء واستمرارهم</a:t>
            </a:r>
            <a:endParaRPr lang="ar-IQ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قد يكسر الاستراتيجية، وكيف نمنعه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10545775" y="1709928"/>
            <a:ext cx="1097280" cy="438912"/>
          </a:xfrm>
          <a:prstGeom prst="roundRect">
            <a:avLst>
              <a:gd name="adj" fmla="val 50000"/>
            </a:avLst>
          </a:prstGeom>
          <a:solidFill>
            <a:srgbClr val="C96B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545775" y="1709928"/>
            <a:ext cx="1097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عالٍ</a:t>
            </a:r>
            <a:endParaRPr lang="ar-IQ" sz="1300" dirty="0"/>
          </a:p>
        </p:txBody>
      </p:sp>
      <p:sp>
        <p:nvSpPr>
          <p:cNvPr id="10" name="Shape 7"/>
          <p:cNvSpPr/>
          <p:nvPr/>
        </p:nvSpPr>
        <p:spPr>
          <a:xfrm>
            <a:off x="6522415" y="1554480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59575" y="1554480"/>
            <a:ext cx="36118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نبني وعياً بالاسم فيقطفه غيرنا</a:t>
            </a:r>
            <a:endParaRPr lang="ar-IQ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5836615" cy="749808"/>
          </a:xfrm>
          <a:prstGeom prst="roundRect">
            <a:avLst>
              <a:gd name="adj" fmla="val 1219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1554480"/>
            <a:ext cx="5470855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 النبراس ظاهرة كجهة تواصل من اليوم الأول، ورصد مدّعي البيع يسرّع المرحلة الثانية.</a:t>
            </a:r>
            <a:endParaRPr lang="ar-IQ" sz="1400" dirty="0"/>
          </a:p>
        </p:txBody>
      </p:sp>
      <p:sp>
        <p:nvSpPr>
          <p:cNvPr id="14" name="Shape 11"/>
          <p:cNvSpPr/>
          <p:nvPr/>
        </p:nvSpPr>
        <p:spPr>
          <a:xfrm>
            <a:off x="10545775" y="2596896"/>
            <a:ext cx="1097280" cy="438912"/>
          </a:xfrm>
          <a:prstGeom prst="roundRect">
            <a:avLst>
              <a:gd name="adj" fmla="val 50000"/>
            </a:avLst>
          </a:prstGeom>
          <a:solidFill>
            <a:srgbClr val="C96B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545775" y="2596896"/>
            <a:ext cx="1097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عالٍ</a:t>
            </a:r>
            <a:endParaRPr lang="ar-IQ" sz="1300" dirty="0"/>
          </a:p>
        </p:txBody>
      </p:sp>
      <p:sp>
        <p:nvSpPr>
          <p:cNvPr id="16" name="Shape 13"/>
          <p:cNvSpPr/>
          <p:nvPr/>
        </p:nvSpPr>
        <p:spPr>
          <a:xfrm>
            <a:off x="6522415" y="2441448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59575" y="2441448"/>
            <a:ext cx="36118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 اسم وشعار جيفودان دون موافقة</a:t>
            </a:r>
            <a:endParaRPr lang="ar-IQ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2441448"/>
            <a:ext cx="5836615" cy="749808"/>
          </a:xfrm>
          <a:prstGeom prst="roundRect">
            <a:avLst>
              <a:gd name="adj" fmla="val 1219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2441448"/>
            <a:ext cx="5470855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دليل الهوية وموافقة مكتوبة قبل أي حملة ممولة.</a:t>
            </a:r>
            <a:endParaRPr lang="ar-IQ" sz="1400" dirty="0"/>
          </a:p>
        </p:txBody>
      </p:sp>
      <p:sp>
        <p:nvSpPr>
          <p:cNvPr id="20" name="Shape 17"/>
          <p:cNvSpPr/>
          <p:nvPr/>
        </p:nvSpPr>
        <p:spPr>
          <a:xfrm>
            <a:off x="10545775" y="3483864"/>
            <a:ext cx="1097280" cy="438912"/>
          </a:xfrm>
          <a:prstGeom prst="roundRect">
            <a:avLst>
              <a:gd name="adj" fmla="val 50000"/>
            </a:avLst>
          </a:prstGeom>
          <a:solidFill>
            <a:srgbClr val="C96B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545775" y="3483864"/>
            <a:ext cx="1097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عالٍ</a:t>
            </a:r>
            <a:endParaRPr lang="ar-IQ" sz="1300" dirty="0"/>
          </a:p>
        </p:txBody>
      </p:sp>
      <p:sp>
        <p:nvSpPr>
          <p:cNvPr id="22" name="Shape 19"/>
          <p:cNvSpPr/>
          <p:nvPr/>
        </p:nvSpPr>
        <p:spPr>
          <a:xfrm>
            <a:off x="6522415" y="3328416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59575" y="3328416"/>
            <a:ext cx="36118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ادعاءات تخص ماركات عالمية مسجلة</a:t>
            </a:r>
            <a:endParaRPr lang="ar-IQ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328416"/>
            <a:ext cx="5836615" cy="749808"/>
          </a:xfrm>
          <a:prstGeom prst="roundRect">
            <a:avLst>
              <a:gd name="adj" fmla="val 1219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328416"/>
            <a:ext cx="5470855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نقول «تصنع لكبرى الماركات» دون أسماء، إلا ما نشرته جيفودان رسمياً.</a:t>
            </a:r>
            <a:endParaRPr lang="ar-IQ" sz="1400" dirty="0"/>
          </a:p>
        </p:txBody>
      </p:sp>
      <p:sp>
        <p:nvSpPr>
          <p:cNvPr id="26" name="Shape 23"/>
          <p:cNvSpPr/>
          <p:nvPr/>
        </p:nvSpPr>
        <p:spPr>
          <a:xfrm>
            <a:off x="10545775" y="4370832"/>
            <a:ext cx="1097280" cy="438912"/>
          </a:xfrm>
          <a:prstGeom prst="roundRect">
            <a:avLst>
              <a:gd name="adj" fmla="val 50000"/>
            </a:avLst>
          </a:prstGeom>
          <a:solidFill>
            <a:srgbClr val="1F2E4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45775" y="4370832"/>
            <a:ext cx="1097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</a:t>
            </a:r>
            <a:endParaRPr lang="ar-IQ" sz="1300" dirty="0"/>
          </a:p>
        </p:txBody>
      </p:sp>
      <p:sp>
        <p:nvSpPr>
          <p:cNvPr id="28" name="Shape 25"/>
          <p:cNvSpPr/>
          <p:nvPr/>
        </p:nvSpPr>
        <p:spPr>
          <a:xfrm>
            <a:off x="6522415" y="4215384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59575" y="4215384"/>
            <a:ext cx="36118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تفاعل منخفض ظاهرياً لصغر الجمهور</a:t>
            </a:r>
            <a:endParaRPr lang="ar-IQ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4215384"/>
            <a:ext cx="5836615" cy="749808"/>
          </a:xfrm>
          <a:prstGeom prst="roundRect">
            <a:avLst>
              <a:gd name="adj" fmla="val 1219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4215384"/>
            <a:ext cx="5470855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نحكم بمؤشرات التعرّف والتذكّر، لا بالإعجابات.</a:t>
            </a:r>
            <a:endParaRPr lang="ar-IQ" sz="1400" dirty="0"/>
          </a:p>
        </p:txBody>
      </p:sp>
      <p:sp>
        <p:nvSpPr>
          <p:cNvPr id="32" name="Shape 29"/>
          <p:cNvSpPr/>
          <p:nvPr/>
        </p:nvSpPr>
        <p:spPr>
          <a:xfrm>
            <a:off x="10545775" y="5257800"/>
            <a:ext cx="1097280" cy="438912"/>
          </a:xfrm>
          <a:prstGeom prst="roundRect">
            <a:avLst>
              <a:gd name="adj" fmla="val 50000"/>
            </a:avLst>
          </a:prstGeom>
          <a:solidFill>
            <a:srgbClr val="1F2E4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545775" y="5257800"/>
            <a:ext cx="1097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</a:t>
            </a:r>
            <a:endParaRPr lang="ar-IQ" sz="1300" dirty="0"/>
          </a:p>
        </p:txBody>
      </p:sp>
      <p:sp>
        <p:nvSpPr>
          <p:cNvPr id="34" name="Shape 31"/>
          <p:cNvSpPr/>
          <p:nvPr/>
        </p:nvSpPr>
        <p:spPr>
          <a:xfrm>
            <a:off x="6522415" y="5102352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1F2E4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59575" y="5102352"/>
            <a:ext cx="36118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5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التزام المبيعات بالتسجيل</a:t>
            </a:r>
            <a:endParaRPr lang="ar-IQ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5102352"/>
            <a:ext cx="5836615" cy="749808"/>
          </a:xfrm>
          <a:prstGeom prst="roundRect">
            <a:avLst>
              <a:gd name="adj" fmla="val 12195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5102352"/>
            <a:ext cx="5470855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400" dirty="0">
                <a:solidFill>
                  <a:srgbClr val="E8D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من أربعة حقول وجلسة تعريف 30 دقيقة.</a:t>
            </a:r>
            <a:endParaRPr lang="ar-IQ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3896" y="6437376"/>
            <a:ext cx="109728" cy="109728"/>
          </a:xfrm>
          <a:prstGeom prst="ellipse">
            <a:avLst/>
          </a:prstGeom>
          <a:ln w="15875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9032" y="6382512"/>
            <a:ext cx="219456" cy="219456"/>
          </a:xfrm>
          <a:prstGeom prst="ellipse">
            <a:avLst/>
          </a:prstGeom>
          <a:ln w="15875">
            <a:solidFill>
              <a:srgbClr val="C9A55C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6327648"/>
            <a:ext cx="329184" cy="329184"/>
          </a:xfrm>
          <a:prstGeom prst="ellipse">
            <a:avLst/>
          </a:prstGeom>
          <a:ln w="15875">
            <a:solidFill>
              <a:srgbClr val="C9A55C">
                <a:alpha val="64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7472"/>
            <a:ext cx="11094415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13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القرارات المطلوبة الآن</a:t>
            </a:r>
            <a:endParaRPr lang="ar-IQ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IQ" alt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ستة قرارات لننطلق</a:t>
            </a:r>
            <a:endParaRPr lang="ar-IQ" sz="3000" dirty="0"/>
          </a:p>
        </p:txBody>
      </p:sp>
      <p:sp>
        <p:nvSpPr>
          <p:cNvPr id="8" name="Shape 5"/>
          <p:cNvSpPr/>
          <p:nvPr/>
        </p:nvSpPr>
        <p:spPr>
          <a:xfrm>
            <a:off x="6233008" y="1645920"/>
            <a:ext cx="5410048" cy="1143000"/>
          </a:xfrm>
          <a:prstGeom prst="roundRect">
            <a:avLst>
              <a:gd name="adj" fmla="val 8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91495" y="1645920"/>
            <a:ext cx="8686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3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ar-IQ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461608" y="1645920"/>
            <a:ext cx="403844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7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التموضع والفكرة الكبرى والشعار</a:t>
            </a:r>
            <a:endParaRPr lang="ar-IQ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1645920"/>
            <a:ext cx="5410048" cy="1143000"/>
          </a:xfrm>
          <a:prstGeom prst="roundRect">
            <a:avLst>
              <a:gd name="adj" fmla="val 8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07128" y="1645920"/>
            <a:ext cx="8686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3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ar-IQ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1645920"/>
            <a:ext cx="403844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7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دليل الهوية وموافقة جيفودان على استخدام الاسم والشعار</a:t>
            </a:r>
            <a:endParaRPr lang="ar-IQ" sz="1700" dirty="0"/>
          </a:p>
        </p:txBody>
      </p:sp>
      <p:sp>
        <p:nvSpPr>
          <p:cNvPr id="14" name="Shape 11"/>
          <p:cNvSpPr/>
          <p:nvPr/>
        </p:nvSpPr>
        <p:spPr>
          <a:xfrm>
            <a:off x="6233008" y="3017520"/>
            <a:ext cx="5410048" cy="1143000"/>
          </a:xfrm>
          <a:prstGeom prst="roundRect">
            <a:avLst>
              <a:gd name="adj" fmla="val 8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591495" y="3017520"/>
            <a:ext cx="8686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3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ar-IQ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6461608" y="3017520"/>
            <a:ext cx="403844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7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واتساب موحّد وجدول تسجيل الاستفسارات بالاسم</a:t>
            </a:r>
            <a:endParaRPr lang="ar-IQ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3017520"/>
            <a:ext cx="5410048" cy="1143000"/>
          </a:xfrm>
          <a:prstGeom prst="roundRect">
            <a:avLst>
              <a:gd name="adj" fmla="val 8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07128" y="3017520"/>
            <a:ext cx="8686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3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ar-IQ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017520"/>
            <a:ext cx="403844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7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ميزانية ترويج شهرية صغيرة ومركّزة</a:t>
            </a:r>
            <a:endParaRPr lang="ar-IQ" sz="1700" dirty="0"/>
          </a:p>
        </p:txBody>
      </p:sp>
      <p:sp>
        <p:nvSpPr>
          <p:cNvPr id="20" name="Shape 17"/>
          <p:cNvSpPr/>
          <p:nvPr/>
        </p:nvSpPr>
        <p:spPr>
          <a:xfrm>
            <a:off x="6233008" y="4389120"/>
            <a:ext cx="5410048" cy="1143000"/>
          </a:xfrm>
          <a:prstGeom prst="roundRect">
            <a:avLst>
              <a:gd name="adj" fmla="val 8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91495" y="4389120"/>
            <a:ext cx="8686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3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ar-IQ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6461608" y="4389120"/>
            <a:ext cx="403844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7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جلسة 30 دقيقة مع فريق المبيعات</a:t>
            </a:r>
            <a:endParaRPr lang="ar-IQ" sz="1700" dirty="0"/>
          </a:p>
        </p:txBody>
      </p:sp>
      <p:sp>
        <p:nvSpPr>
          <p:cNvPr id="23" name="Shape 20"/>
          <p:cNvSpPr/>
          <p:nvPr/>
        </p:nvSpPr>
        <p:spPr>
          <a:xfrm>
            <a:off x="548640" y="4389120"/>
            <a:ext cx="5410048" cy="1143000"/>
          </a:xfrm>
          <a:prstGeom prst="roundRect">
            <a:avLst>
              <a:gd name="adj" fmla="val 8000"/>
            </a:avLst>
          </a:prstGeom>
          <a:solidFill>
            <a:srgbClr val="17233A"/>
          </a:solidFill>
          <a:ln w="9525">
            <a:solidFill>
              <a:srgbClr val="2B3B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07128" y="4389120"/>
            <a:ext cx="8686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32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ar-IQ" sz="32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389120"/>
            <a:ext cx="403844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IQ" altLang="en-US" sz="17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عشر مقابلات مع تجار حاليين لاختبار فرضية الفجوة</a:t>
            </a:r>
            <a:endParaRPr lang="ar-IQ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A55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1248" y="777240"/>
            <a:ext cx="5029200" cy="5029200"/>
          </a:xfrm>
          <a:prstGeom prst="ellipse">
            <a:avLst/>
          </a:prstGeom>
          <a:ln w="15875">
            <a:solidFill>
              <a:srgbClr val="C9A55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24048" y="320040"/>
            <a:ext cx="5943600" cy="5943600"/>
          </a:xfrm>
          <a:prstGeom prst="ellipse">
            <a:avLst/>
          </a:prstGeom>
          <a:ln w="15875">
            <a:solidFill>
              <a:srgbClr val="C9A55C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6848" y="-137160"/>
            <a:ext cx="6858000" cy="6858000"/>
          </a:xfrm>
          <a:prstGeom prst="ellipse">
            <a:avLst/>
          </a:prstGeom>
          <a:ln w="15875">
            <a:solidFill>
              <a:srgbClr val="C9A55C">
                <a:alpha val="34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514600"/>
            <a:ext cx="9448495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44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هنا تبدأ الريحة</a:t>
            </a:r>
            <a:endParaRPr lang="ar-IQ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520440"/>
            <a:ext cx="9448495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800" b="1" dirty="0">
                <a:solidFill>
                  <a:srgbClr val="C9A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جيفودان  ·  GIVAUDAN</a:t>
            </a:r>
            <a:endParaRPr lang="ar-IQ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977640"/>
            <a:ext cx="9448495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IQ" altLang="en-US" sz="1500" dirty="0">
                <a:solidFill>
                  <a:srgbClr val="9AA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 نور النبراس في العراق</a:t>
            </a:r>
            <a:endParaRPr lang="ar-IQ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vaudan Iraq">
  <a:themeElements>
    <a:clrScheme name="Givaudan Iraq">
      <a:dk1>
        <a:srgbClr val="0E1726"/>
      </a:dk1>
      <a:lt1>
        <a:srgbClr val="FFFFFF"/>
      </a:lt1>
      <a:dk2>
        <a:srgbClr val="17233A"/>
      </a:dk2>
      <a:lt2>
        <a:srgbClr val="F4EFE6"/>
      </a:lt2>
      <a:accent1>
        <a:srgbClr val="C9A55C"/>
      </a:accent1>
      <a:accent2>
        <a:srgbClr val="E8D5A9"/>
      </a:accent2>
      <a:accent3>
        <a:srgbClr val="9AA4B5"/>
      </a:accent3>
      <a:accent4>
        <a:srgbClr val="1F2E4A"/>
      </a:accent4>
      <a:accent5>
        <a:srgbClr val="C96B5C"/>
      </a:accent5>
      <a:accent6>
        <a:srgbClr val="6F8FB8"/>
      </a:accent6>
      <a:hlink>
        <a:srgbClr val="C9A55C"/>
      </a:hlink>
      <a:folHlink>
        <a:srgbClr val="E8D5A9"/>
      </a:folHlink>
    </a:clrScheme>
    <a:fontScheme name="Givaudan Iraq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استراتيجية صفحة جيفودان العراق</dc:title>
  <dc:subject>PptxGenJS Presentation</dc:subject>
  <dc:creator>نور النبراس</dc:creator>
  <cp:lastModifiedBy>نور النبراس</cp:lastModifiedBy>
  <cp:revision>1</cp:revision>
  <dcterms:created xsi:type="dcterms:W3CDTF">2026-10-16T22:09:21Z</dcterms:created>
  <dcterms:modified xsi:type="dcterms:W3CDTF">2026-10-16T22:09:21Z</dcterms:modified>
</cp:coreProperties>
</file>